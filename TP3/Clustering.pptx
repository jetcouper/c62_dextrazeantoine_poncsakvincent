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88" r:id="rId3"/>
    <p:sldId id="333" r:id="rId4"/>
    <p:sldId id="335" r:id="rId5"/>
    <p:sldId id="334" r:id="rId6"/>
    <p:sldId id="343" r:id="rId7"/>
    <p:sldId id="336" r:id="rId8"/>
    <p:sldId id="338" r:id="rId9"/>
    <p:sldId id="339" r:id="rId10"/>
    <p:sldId id="344" r:id="rId11"/>
    <p:sldId id="340" r:id="rId12"/>
    <p:sldId id="348" r:id="rId13"/>
    <p:sldId id="337" r:id="rId14"/>
    <p:sldId id="341" r:id="rId15"/>
    <p:sldId id="345" r:id="rId16"/>
    <p:sldId id="342" r:id="rId17"/>
    <p:sldId id="347" r:id="rId18"/>
    <p:sldId id="356" r:id="rId19"/>
    <p:sldId id="352" r:id="rId20"/>
    <p:sldId id="353" r:id="rId21"/>
    <p:sldId id="354" r:id="rId22"/>
    <p:sldId id="350" r:id="rId23"/>
    <p:sldId id="346" r:id="rId24"/>
    <p:sldId id="355" r:id="rId25"/>
    <p:sldId id="349" r:id="rId26"/>
    <p:sldId id="332" r:id="rId2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ierre Paul Monty" initials="PPM" lastIdx="1" clrIdx="0">
    <p:extLst>
      <p:ext uri="{19B8F6BF-5375-455C-9EA6-DF929625EA0E}">
        <p15:presenceInfo xmlns:p15="http://schemas.microsoft.com/office/powerpoint/2012/main" userId="Pierre Paul Mont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9ED62B-2652-FD47-CE8E-16FF585F252A}" v="182" dt="2020-11-16T15:17:14.120"/>
    <p1510:client id="{8E096160-FFFE-558E-4BD0-BA1611BED029}" v="2673" dt="2020-11-10T14:55:22.9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Style foncé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09" autoAdjust="0"/>
    <p:restoredTop sz="94542" autoAdjust="0"/>
  </p:normalViewPr>
  <p:slideViewPr>
    <p:cSldViewPr>
      <p:cViewPr varScale="1">
        <p:scale>
          <a:sx n="105" d="100"/>
          <a:sy n="105" d="100"/>
        </p:scale>
        <p:origin x="1262" y="28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ty Pierre-Paul" userId="S::ppmonty@cvm.qc.ca::353c40b2-ebcb-4767-81e8-891a96156d9f" providerId="AD" clId="Web-{679ED62B-2652-FD47-CE8E-16FF585F252A}"/>
    <pc:docChg chg="modSld sldOrd">
      <pc:chgData name="Monty Pierre-Paul" userId="S::ppmonty@cvm.qc.ca::353c40b2-ebcb-4767-81e8-891a96156d9f" providerId="AD" clId="Web-{679ED62B-2652-FD47-CE8E-16FF585F252A}" dt="2020-11-16T15:17:14.120" v="175"/>
      <pc:docMkLst>
        <pc:docMk/>
      </pc:docMkLst>
      <pc:sldChg chg="modSp">
        <pc:chgData name="Monty Pierre-Paul" userId="S::ppmonty@cvm.qc.ca::353c40b2-ebcb-4767-81e8-891a96156d9f" providerId="AD" clId="Web-{679ED62B-2652-FD47-CE8E-16FF585F252A}" dt="2020-11-16T15:03:26.132" v="55" actId="20577"/>
        <pc:sldMkLst>
          <pc:docMk/>
          <pc:sldMk cId="1617139677" sldId="333"/>
        </pc:sldMkLst>
        <pc:spChg chg="mod">
          <ac:chgData name="Monty Pierre-Paul" userId="S::ppmonty@cvm.qc.ca::353c40b2-ebcb-4767-81e8-891a96156d9f" providerId="AD" clId="Web-{679ED62B-2652-FD47-CE8E-16FF585F252A}" dt="2020-11-16T15:03:26.132" v="55" actId="20577"/>
          <ac:spMkLst>
            <pc:docMk/>
            <pc:sldMk cId="1617139677" sldId="333"/>
            <ac:spMk id="2" creationId="{00000000-0000-0000-0000-000000000000}"/>
          </ac:spMkLst>
        </pc:spChg>
      </pc:sldChg>
      <pc:sldChg chg="modSp">
        <pc:chgData name="Monty Pierre-Paul" userId="S::ppmonty@cvm.qc.ca::353c40b2-ebcb-4767-81e8-891a96156d9f" providerId="AD" clId="Web-{679ED62B-2652-FD47-CE8E-16FF585F252A}" dt="2020-11-16T15:02:59.694" v="38" actId="20577"/>
        <pc:sldMkLst>
          <pc:docMk/>
          <pc:sldMk cId="223533673" sldId="335"/>
        </pc:sldMkLst>
        <pc:spChg chg="mod">
          <ac:chgData name="Monty Pierre-Paul" userId="S::ppmonty@cvm.qc.ca::353c40b2-ebcb-4767-81e8-891a96156d9f" providerId="AD" clId="Web-{679ED62B-2652-FD47-CE8E-16FF585F252A}" dt="2020-11-16T15:02:59.694" v="38" actId="20577"/>
          <ac:spMkLst>
            <pc:docMk/>
            <pc:sldMk cId="223533673" sldId="335"/>
            <ac:spMk id="2" creationId="{00000000-0000-0000-0000-000000000000}"/>
          </ac:spMkLst>
        </pc:spChg>
        <pc:spChg chg="mod">
          <ac:chgData name="Monty Pierre-Paul" userId="S::ppmonty@cvm.qc.ca::353c40b2-ebcb-4767-81e8-891a96156d9f" providerId="AD" clId="Web-{679ED62B-2652-FD47-CE8E-16FF585F252A}" dt="2020-11-16T15:02:49.038" v="12" actId="20577"/>
          <ac:spMkLst>
            <pc:docMk/>
            <pc:sldMk cId="223533673" sldId="335"/>
            <ac:spMk id="3" creationId="{00000000-0000-0000-0000-000000000000}"/>
          </ac:spMkLst>
        </pc:spChg>
      </pc:sldChg>
      <pc:sldChg chg="modSp ord">
        <pc:chgData name="Monty Pierre-Paul" userId="S::ppmonty@cvm.qc.ca::353c40b2-ebcb-4767-81e8-891a96156d9f" providerId="AD" clId="Web-{679ED62B-2652-FD47-CE8E-16FF585F252A}" dt="2020-11-16T15:17:10.745" v="174"/>
        <pc:sldMkLst>
          <pc:docMk/>
          <pc:sldMk cId="947233235" sldId="350"/>
        </pc:sldMkLst>
        <pc:spChg chg="mod">
          <ac:chgData name="Monty Pierre-Paul" userId="S::ppmonty@cvm.qc.ca::353c40b2-ebcb-4767-81e8-891a96156d9f" providerId="AD" clId="Web-{679ED62B-2652-FD47-CE8E-16FF585F252A}" dt="2020-11-16T15:16:21.245" v="170" actId="20577"/>
          <ac:spMkLst>
            <pc:docMk/>
            <pc:sldMk cId="947233235" sldId="350"/>
            <ac:spMk id="3" creationId="{00000000-0000-0000-0000-000000000000}"/>
          </ac:spMkLst>
        </pc:spChg>
      </pc:sldChg>
      <pc:sldChg chg="modSp">
        <pc:chgData name="Monty Pierre-Paul" userId="S::ppmonty@cvm.qc.ca::353c40b2-ebcb-4767-81e8-891a96156d9f" providerId="AD" clId="Web-{679ED62B-2652-FD47-CE8E-16FF585F252A}" dt="2020-11-16T15:14:18.088" v="68" actId="20577"/>
        <pc:sldMkLst>
          <pc:docMk/>
          <pc:sldMk cId="3907156344" sldId="351"/>
        </pc:sldMkLst>
        <pc:spChg chg="mod">
          <ac:chgData name="Monty Pierre-Paul" userId="S::ppmonty@cvm.qc.ca::353c40b2-ebcb-4767-81e8-891a96156d9f" providerId="AD" clId="Web-{679ED62B-2652-FD47-CE8E-16FF585F252A}" dt="2020-11-16T15:14:18.088" v="68" actId="20577"/>
          <ac:spMkLst>
            <pc:docMk/>
            <pc:sldMk cId="3907156344" sldId="351"/>
            <ac:spMk id="3" creationId="{00000000-0000-0000-0000-000000000000}"/>
          </ac:spMkLst>
        </pc:spChg>
      </pc:sldChg>
      <pc:sldChg chg="modSp">
        <pc:chgData name="Monty Pierre-Paul" userId="S::ppmonty@cvm.qc.ca::353c40b2-ebcb-4767-81e8-891a96156d9f" providerId="AD" clId="Web-{679ED62B-2652-FD47-CE8E-16FF585F252A}" dt="2020-11-16T15:15:10.807" v="87" actId="20577"/>
        <pc:sldMkLst>
          <pc:docMk/>
          <pc:sldMk cId="4139523106" sldId="353"/>
        </pc:sldMkLst>
        <pc:spChg chg="mod">
          <ac:chgData name="Monty Pierre-Paul" userId="S::ppmonty@cvm.qc.ca::353c40b2-ebcb-4767-81e8-891a96156d9f" providerId="AD" clId="Web-{679ED62B-2652-FD47-CE8E-16FF585F252A}" dt="2020-11-16T15:15:10.807" v="87" actId="20577"/>
          <ac:spMkLst>
            <pc:docMk/>
            <pc:sldMk cId="4139523106" sldId="353"/>
            <ac:spMk id="3" creationId="{00000000-0000-0000-0000-000000000000}"/>
          </ac:spMkLst>
        </pc:spChg>
      </pc:sldChg>
      <pc:sldChg chg="ord">
        <pc:chgData name="Monty Pierre-Paul" userId="S::ppmonty@cvm.qc.ca::353c40b2-ebcb-4767-81e8-891a96156d9f" providerId="AD" clId="Web-{679ED62B-2652-FD47-CE8E-16FF585F252A}" dt="2020-11-16T15:17:14.120" v="175"/>
        <pc:sldMkLst>
          <pc:docMk/>
          <pc:sldMk cId="2065652520" sldId="355"/>
        </pc:sldMkLst>
      </pc:sldChg>
    </pc:docChg>
  </pc:docChgLst>
  <pc:docChgLst>
    <pc:chgData name="Monty Pierre-Paul" userId="S::ppmonty@cvm.qc.ca::353c40b2-ebcb-4767-81e8-891a96156d9f" providerId="AD" clId="Web-{8E096160-FFFE-558E-4BD0-BA1611BED029}"/>
    <pc:docChg chg="addSld modSld">
      <pc:chgData name="Monty Pierre-Paul" userId="S::ppmonty@cvm.qc.ca::353c40b2-ebcb-4767-81e8-891a96156d9f" providerId="AD" clId="Web-{8E096160-FFFE-558E-4BD0-BA1611BED029}" dt="2020-11-10T14:55:22.949" v="2662" actId="20577"/>
      <pc:docMkLst>
        <pc:docMk/>
      </pc:docMkLst>
      <pc:sldChg chg="modSp">
        <pc:chgData name="Monty Pierre-Paul" userId="S::ppmonty@cvm.qc.ca::353c40b2-ebcb-4767-81e8-891a96156d9f" providerId="AD" clId="Web-{8E096160-FFFE-558E-4BD0-BA1611BED029}" dt="2020-11-10T14:00:55.820" v="92" actId="20577"/>
        <pc:sldMkLst>
          <pc:docMk/>
          <pc:sldMk cId="1226356263" sldId="334"/>
        </pc:sldMkLst>
        <pc:spChg chg="mod">
          <ac:chgData name="Monty Pierre-Paul" userId="S::ppmonty@cvm.qc.ca::353c40b2-ebcb-4767-81e8-891a96156d9f" providerId="AD" clId="Web-{8E096160-FFFE-558E-4BD0-BA1611BED029}" dt="2020-11-10T14:00:55.820" v="92" actId="20577"/>
          <ac:spMkLst>
            <pc:docMk/>
            <pc:sldMk cId="1226356263" sldId="334"/>
            <ac:spMk id="3" creationId="{00000000-0000-0000-0000-000000000000}"/>
          </ac:spMkLst>
        </pc:spChg>
      </pc:sldChg>
      <pc:sldChg chg="modSp">
        <pc:chgData name="Monty Pierre-Paul" userId="S::ppmonty@cvm.qc.ca::353c40b2-ebcb-4767-81e8-891a96156d9f" providerId="AD" clId="Web-{8E096160-FFFE-558E-4BD0-BA1611BED029}" dt="2020-11-10T14:14:44.348" v="247" actId="20577"/>
        <pc:sldMkLst>
          <pc:docMk/>
          <pc:sldMk cId="223533673" sldId="335"/>
        </pc:sldMkLst>
        <pc:spChg chg="mod">
          <ac:chgData name="Monty Pierre-Paul" userId="S::ppmonty@cvm.qc.ca::353c40b2-ebcb-4767-81e8-891a96156d9f" providerId="AD" clId="Web-{8E096160-FFFE-558E-4BD0-BA1611BED029}" dt="2020-11-10T14:14:44.348" v="247" actId="20577"/>
          <ac:spMkLst>
            <pc:docMk/>
            <pc:sldMk cId="223533673" sldId="335"/>
            <ac:spMk id="3" creationId="{00000000-0000-0000-0000-000000000000}"/>
          </ac:spMkLst>
        </pc:spChg>
      </pc:sldChg>
      <pc:sldChg chg="modSp">
        <pc:chgData name="Monty Pierre-Paul" userId="S::ppmonty@cvm.qc.ca::353c40b2-ebcb-4767-81e8-891a96156d9f" providerId="AD" clId="Web-{8E096160-FFFE-558E-4BD0-BA1611BED029}" dt="2020-11-10T14:13:41.880" v="172" actId="20577"/>
        <pc:sldMkLst>
          <pc:docMk/>
          <pc:sldMk cId="1835344844" sldId="337"/>
        </pc:sldMkLst>
        <pc:spChg chg="mod">
          <ac:chgData name="Monty Pierre-Paul" userId="S::ppmonty@cvm.qc.ca::353c40b2-ebcb-4767-81e8-891a96156d9f" providerId="AD" clId="Web-{8E096160-FFFE-558E-4BD0-BA1611BED029}" dt="2020-11-10T14:13:41.880" v="172" actId="20577"/>
          <ac:spMkLst>
            <pc:docMk/>
            <pc:sldMk cId="1835344844" sldId="337"/>
            <ac:spMk id="3" creationId="{00000000-0000-0000-0000-000000000000}"/>
          </ac:spMkLst>
        </pc:spChg>
      </pc:sldChg>
      <pc:sldChg chg="modSp">
        <pc:chgData name="Monty Pierre-Paul" userId="S::ppmonty@cvm.qc.ca::353c40b2-ebcb-4767-81e8-891a96156d9f" providerId="AD" clId="Web-{8E096160-FFFE-558E-4BD0-BA1611BED029}" dt="2020-11-10T14:51:43.310" v="2413" actId="20577"/>
        <pc:sldMkLst>
          <pc:docMk/>
          <pc:sldMk cId="1780487823" sldId="346"/>
        </pc:sldMkLst>
        <pc:spChg chg="mod">
          <ac:chgData name="Monty Pierre-Paul" userId="S::ppmonty@cvm.qc.ca::353c40b2-ebcb-4767-81e8-891a96156d9f" providerId="AD" clId="Web-{8E096160-FFFE-558E-4BD0-BA1611BED029}" dt="2020-11-10T14:51:43.310" v="2413" actId="20577"/>
          <ac:spMkLst>
            <pc:docMk/>
            <pc:sldMk cId="1780487823" sldId="346"/>
            <ac:spMk id="3" creationId="{00000000-0000-0000-0000-000000000000}"/>
          </ac:spMkLst>
        </pc:spChg>
      </pc:sldChg>
      <pc:sldChg chg="modSp">
        <pc:chgData name="Monty Pierre-Paul" userId="S::ppmonty@cvm.qc.ca::353c40b2-ebcb-4767-81e8-891a96156d9f" providerId="AD" clId="Web-{8E096160-FFFE-558E-4BD0-BA1611BED029}" dt="2020-11-10T14:24:58.034" v="1165" actId="20577"/>
        <pc:sldMkLst>
          <pc:docMk/>
          <pc:sldMk cId="2849680373" sldId="347"/>
        </pc:sldMkLst>
        <pc:spChg chg="mod">
          <ac:chgData name="Monty Pierre-Paul" userId="S::ppmonty@cvm.qc.ca::353c40b2-ebcb-4767-81e8-891a96156d9f" providerId="AD" clId="Web-{8E096160-FFFE-558E-4BD0-BA1611BED029}" dt="2020-11-10T14:24:58.034" v="1165" actId="20577"/>
          <ac:spMkLst>
            <pc:docMk/>
            <pc:sldMk cId="2849680373" sldId="347"/>
            <ac:spMk id="3" creationId="{00000000-0000-0000-0000-000000000000}"/>
          </ac:spMkLst>
        </pc:spChg>
      </pc:sldChg>
      <pc:sldChg chg="add replId">
        <pc:chgData name="Monty Pierre-Paul" userId="S::ppmonty@cvm.qc.ca::353c40b2-ebcb-4767-81e8-891a96156d9f" providerId="AD" clId="Web-{8E096160-FFFE-558E-4BD0-BA1611BED029}" dt="2020-11-10T14:15:56.457" v="249"/>
        <pc:sldMkLst>
          <pc:docMk/>
          <pc:sldMk cId="947233235" sldId="350"/>
        </pc:sldMkLst>
      </pc:sldChg>
      <pc:sldChg chg="modSp add replId">
        <pc:chgData name="Monty Pierre-Paul" userId="S::ppmonty@cvm.qc.ca::353c40b2-ebcb-4767-81e8-891a96156d9f" providerId="AD" clId="Web-{8E096160-FFFE-558E-4BD0-BA1611BED029}" dt="2020-11-10T14:45:59.233" v="1958" actId="20577"/>
        <pc:sldMkLst>
          <pc:docMk/>
          <pc:sldMk cId="3907156344" sldId="351"/>
        </pc:sldMkLst>
        <pc:spChg chg="mod">
          <ac:chgData name="Monty Pierre-Paul" userId="S::ppmonty@cvm.qc.ca::353c40b2-ebcb-4767-81e8-891a96156d9f" providerId="AD" clId="Web-{8E096160-FFFE-558E-4BD0-BA1611BED029}" dt="2020-11-10T14:45:59.233" v="1958" actId="20577"/>
          <ac:spMkLst>
            <pc:docMk/>
            <pc:sldMk cId="3907156344" sldId="351"/>
            <ac:spMk id="3" creationId="{00000000-0000-0000-0000-000000000000}"/>
          </ac:spMkLst>
        </pc:spChg>
      </pc:sldChg>
      <pc:sldChg chg="modSp add replId">
        <pc:chgData name="Monty Pierre-Paul" userId="S::ppmonty@cvm.qc.ca::353c40b2-ebcb-4767-81e8-891a96156d9f" providerId="AD" clId="Web-{8E096160-FFFE-558E-4BD0-BA1611BED029}" dt="2020-11-10T14:47:46.607" v="2136" actId="20577"/>
        <pc:sldMkLst>
          <pc:docMk/>
          <pc:sldMk cId="2167539767" sldId="352"/>
        </pc:sldMkLst>
        <pc:spChg chg="mod">
          <ac:chgData name="Monty Pierre-Paul" userId="S::ppmonty@cvm.qc.ca::353c40b2-ebcb-4767-81e8-891a96156d9f" providerId="AD" clId="Web-{8E096160-FFFE-558E-4BD0-BA1611BED029}" dt="2020-11-10T14:47:46.607" v="2136" actId="20577"/>
          <ac:spMkLst>
            <pc:docMk/>
            <pc:sldMk cId="2167539767" sldId="352"/>
            <ac:spMk id="3" creationId="{00000000-0000-0000-0000-000000000000}"/>
          </ac:spMkLst>
        </pc:spChg>
      </pc:sldChg>
      <pc:sldChg chg="modSp add replId">
        <pc:chgData name="Monty Pierre-Paul" userId="S::ppmonty@cvm.qc.ca::353c40b2-ebcb-4767-81e8-891a96156d9f" providerId="AD" clId="Web-{8E096160-FFFE-558E-4BD0-BA1611BED029}" dt="2020-11-10T14:44:27.108" v="1908" actId="20577"/>
        <pc:sldMkLst>
          <pc:docMk/>
          <pc:sldMk cId="4139523106" sldId="353"/>
        </pc:sldMkLst>
        <pc:spChg chg="mod">
          <ac:chgData name="Monty Pierre-Paul" userId="S::ppmonty@cvm.qc.ca::353c40b2-ebcb-4767-81e8-891a96156d9f" providerId="AD" clId="Web-{8E096160-FFFE-558E-4BD0-BA1611BED029}" dt="2020-11-10T14:44:27.108" v="1908" actId="20577"/>
          <ac:spMkLst>
            <pc:docMk/>
            <pc:sldMk cId="4139523106" sldId="353"/>
            <ac:spMk id="3" creationId="{00000000-0000-0000-0000-000000000000}"/>
          </ac:spMkLst>
        </pc:spChg>
      </pc:sldChg>
      <pc:sldChg chg="addSp delSp modSp add replId">
        <pc:chgData name="Monty Pierre-Paul" userId="S::ppmonty@cvm.qc.ca::353c40b2-ebcb-4767-81e8-891a96156d9f" providerId="AD" clId="Web-{8E096160-FFFE-558E-4BD0-BA1611BED029}" dt="2020-11-10T14:43:53.671" v="1891" actId="14100"/>
        <pc:sldMkLst>
          <pc:docMk/>
          <pc:sldMk cId="2677291679" sldId="354"/>
        </pc:sldMkLst>
        <pc:spChg chg="mod">
          <ac:chgData name="Monty Pierre-Paul" userId="S::ppmonty@cvm.qc.ca::353c40b2-ebcb-4767-81e8-891a96156d9f" providerId="AD" clId="Web-{8E096160-FFFE-558E-4BD0-BA1611BED029}" dt="2020-11-10T14:39:05.921" v="1863" actId="20577"/>
          <ac:spMkLst>
            <pc:docMk/>
            <pc:sldMk cId="2677291679" sldId="354"/>
            <ac:spMk id="3" creationId="{00000000-0000-0000-0000-000000000000}"/>
          </ac:spMkLst>
        </pc:spChg>
        <pc:picChg chg="add del mod">
          <ac:chgData name="Monty Pierre-Paul" userId="S::ppmonty@cvm.qc.ca::353c40b2-ebcb-4767-81e8-891a96156d9f" providerId="AD" clId="Web-{8E096160-FFFE-558E-4BD0-BA1611BED029}" dt="2020-11-10T14:41:14.077" v="1870"/>
          <ac:picMkLst>
            <pc:docMk/>
            <pc:sldMk cId="2677291679" sldId="354"/>
            <ac:picMk id="6" creationId="{91978B76-EB9B-44C4-8FD0-1A0AFB825521}"/>
          </ac:picMkLst>
        </pc:picChg>
        <pc:picChg chg="add mod">
          <ac:chgData name="Monty Pierre-Paul" userId="S::ppmonty@cvm.qc.ca::353c40b2-ebcb-4767-81e8-891a96156d9f" providerId="AD" clId="Web-{8E096160-FFFE-558E-4BD0-BA1611BED029}" dt="2020-11-10T14:41:41.218" v="1873" actId="14100"/>
          <ac:picMkLst>
            <pc:docMk/>
            <pc:sldMk cId="2677291679" sldId="354"/>
            <ac:picMk id="7" creationId="{303BC09F-21A8-4239-9E73-095DA8582362}"/>
          </ac:picMkLst>
        </pc:picChg>
        <pc:inkChg chg="add del">
          <ac:chgData name="Monty Pierre-Paul" userId="S::ppmonty@cvm.qc.ca::353c40b2-ebcb-4767-81e8-891a96156d9f" providerId="AD" clId="Web-{8E096160-FFFE-558E-4BD0-BA1611BED029}" dt="2020-11-10T14:38:59.109" v="1847"/>
          <ac:inkMkLst>
            <pc:docMk/>
            <pc:sldMk cId="2677291679" sldId="354"/>
            <ac:inkMk id="5" creationId="{7D31FB57-E686-4007-961A-5E19B46927F2}"/>
          </ac:inkMkLst>
        </pc:inkChg>
        <pc:cxnChg chg="add mod">
          <ac:chgData name="Monty Pierre-Paul" userId="S::ppmonty@cvm.qc.ca::353c40b2-ebcb-4767-81e8-891a96156d9f" providerId="AD" clId="Web-{8E096160-FFFE-558E-4BD0-BA1611BED029}" dt="2020-11-10T14:43:02.155" v="1881" actId="14100"/>
          <ac:cxnSpMkLst>
            <pc:docMk/>
            <pc:sldMk cId="2677291679" sldId="354"/>
            <ac:cxnSpMk id="8" creationId="{69E74F66-2572-4B32-8BB4-95F9AD879E6C}"/>
          </ac:cxnSpMkLst>
        </pc:cxnChg>
        <pc:cxnChg chg="add mod">
          <ac:chgData name="Monty Pierre-Paul" userId="S::ppmonty@cvm.qc.ca::353c40b2-ebcb-4767-81e8-891a96156d9f" providerId="AD" clId="Web-{8E096160-FFFE-558E-4BD0-BA1611BED029}" dt="2020-11-10T14:43:17.858" v="1885" actId="14100"/>
          <ac:cxnSpMkLst>
            <pc:docMk/>
            <pc:sldMk cId="2677291679" sldId="354"/>
            <ac:cxnSpMk id="9" creationId="{B53D6940-7E61-4582-B9A8-CF01AF1539FA}"/>
          </ac:cxnSpMkLst>
        </pc:cxnChg>
        <pc:cxnChg chg="add mod">
          <ac:chgData name="Monty Pierre-Paul" userId="S::ppmonty@cvm.qc.ca::353c40b2-ebcb-4767-81e8-891a96156d9f" providerId="AD" clId="Web-{8E096160-FFFE-558E-4BD0-BA1611BED029}" dt="2020-11-10T14:43:53.671" v="1891" actId="14100"/>
          <ac:cxnSpMkLst>
            <pc:docMk/>
            <pc:sldMk cId="2677291679" sldId="354"/>
            <ac:cxnSpMk id="10" creationId="{B3E5246A-966A-49DB-9952-4EEF252ECD3C}"/>
          </ac:cxnSpMkLst>
        </pc:cxnChg>
      </pc:sldChg>
      <pc:sldChg chg="modSp add replId">
        <pc:chgData name="Monty Pierre-Paul" userId="S::ppmonty@cvm.qc.ca::353c40b2-ebcb-4767-81e8-891a96156d9f" providerId="AD" clId="Web-{8E096160-FFFE-558E-4BD0-BA1611BED029}" dt="2020-11-10T14:55:22.934" v="2661" actId="20577"/>
        <pc:sldMkLst>
          <pc:docMk/>
          <pc:sldMk cId="2065652520" sldId="355"/>
        </pc:sldMkLst>
        <pc:spChg chg="mod">
          <ac:chgData name="Monty Pierre-Paul" userId="S::ppmonty@cvm.qc.ca::353c40b2-ebcb-4767-81e8-891a96156d9f" providerId="AD" clId="Web-{8E096160-FFFE-558E-4BD0-BA1611BED029}" dt="2020-11-10T14:49:52.404" v="2216" actId="20577"/>
          <ac:spMkLst>
            <pc:docMk/>
            <pc:sldMk cId="2065652520" sldId="355"/>
            <ac:spMk id="2" creationId="{00000000-0000-0000-0000-000000000000}"/>
          </ac:spMkLst>
        </pc:spChg>
        <pc:spChg chg="mod">
          <ac:chgData name="Monty Pierre-Paul" userId="S::ppmonty@cvm.qc.ca::353c40b2-ebcb-4767-81e8-891a96156d9f" providerId="AD" clId="Web-{8E096160-FFFE-558E-4BD0-BA1611BED029}" dt="2020-11-10T14:55:22.934" v="2661" actId="20577"/>
          <ac:spMkLst>
            <pc:docMk/>
            <pc:sldMk cId="2065652520" sldId="355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1C561-8D67-44D8-A430-9A6ECEC8F587}" type="datetimeFigureOut">
              <a:rPr lang="fr-CA" smtClean="0"/>
              <a:t>2026-04-15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3C2D0B-B307-4955-A8B5-640E0820479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68217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C2D0B-B307-4955-A8B5-640E08204791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7999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C2D0B-B307-4955-A8B5-640E08204791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21253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C2D0B-B307-4955-A8B5-640E08204791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43365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Grouper des points au tableau.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C2D0B-B307-4955-A8B5-640E08204791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040181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C2D0B-B307-4955-A8B5-640E08204791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57567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C2D0B-B307-4955-A8B5-640E08204791}" type="slidenum">
              <a:rPr lang="fr-CA" smtClean="0"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43381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C2D0B-B307-4955-A8B5-640E08204791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004137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C2D0B-B307-4955-A8B5-640E08204791}" type="slidenum">
              <a:rPr lang="fr-CA" smtClean="0"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388706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C2D0B-B307-4955-A8B5-640E08204791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878735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Exemple au tableau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C2D0B-B307-4955-A8B5-640E08204791}" type="slidenum">
              <a:rPr lang="fr-CA" smtClean="0"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196617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mn = m + m + m + … + m, n fois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C2D0B-B307-4955-A8B5-640E08204791}" type="slidenum">
              <a:rPr lang="fr-CA" smtClean="0"/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995406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C2D0B-B307-4955-A8B5-640E08204791}" type="slidenum">
              <a:rPr lang="fr-CA" smtClean="0"/>
              <a:t>12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717900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C2D0B-B307-4955-A8B5-640E08204791}" type="slidenum">
              <a:rPr lang="fr-CA" smtClean="0"/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771016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C2D0B-B307-4955-A8B5-640E08204791}" type="slidenum">
              <a:rPr lang="fr-CA" smtClean="0"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53703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C2D0B-B307-4955-A8B5-640E08204791}" type="slidenum">
              <a:rPr lang="fr-CA" smtClean="0"/>
              <a:t>15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925446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C2D0B-B307-4955-A8B5-640E08204791}" type="slidenum">
              <a:rPr lang="fr-CA" smtClean="0"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596090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C2D0B-B307-4955-A8B5-640E08204791}" type="slidenum">
              <a:rPr lang="fr-CA" smtClean="0"/>
              <a:t>17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936864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C2D0B-B307-4955-A8B5-640E08204791}" type="slidenum">
              <a:rPr lang="fr-CA" smtClean="0"/>
              <a:t>18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422358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C2D0B-B307-4955-A8B5-640E08204791}" type="slidenum">
              <a:rPr lang="fr-CA" smtClean="0"/>
              <a:t>19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857301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C2D0B-B307-4955-A8B5-640E08204791}" type="slidenum">
              <a:rPr lang="fr-CA" smtClean="0"/>
              <a:t>20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539407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C2D0B-B307-4955-A8B5-640E08204791}" type="slidenum">
              <a:rPr lang="fr-CA" smtClean="0"/>
              <a:t>21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836418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C2D0B-B307-4955-A8B5-640E08204791}" type="slidenum">
              <a:rPr lang="fr-CA" smtClean="0"/>
              <a:t>22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482058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C2D0B-B307-4955-A8B5-640E08204791}" type="slidenum">
              <a:rPr lang="fr-CA" smtClean="0"/>
              <a:t>23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71278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C2D0B-B307-4955-A8B5-640E08204791}" type="slidenum">
              <a:rPr lang="fr-CA" smtClean="0"/>
              <a:t>24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745196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C2D0B-B307-4955-A8B5-640E08204791}" type="slidenum">
              <a:rPr lang="fr-CA" smtClean="0"/>
              <a:t>25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124652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C2D0B-B307-4955-A8B5-640E08204791}" type="slidenum">
              <a:rPr lang="fr-CA" smtClean="0"/>
              <a:t>26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5013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D7345-9082-4AA9-9BF8-F95069064ACF}" type="datetime1">
              <a:rPr lang="fr-CA" smtClean="0"/>
              <a:t>2026-04-15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46941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BB21-0454-436D-B6ED-72C474655C58}" type="datetime1">
              <a:rPr lang="fr-CA" smtClean="0"/>
              <a:t>2026-04-15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84771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DF76-14C3-44A4-908B-6A424FCD5EEE}" type="datetime1">
              <a:rPr lang="fr-CA" smtClean="0"/>
              <a:t>2026-04-15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85030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3BF-9854-40D5-A722-F2DDF458E2A9}" type="datetime1">
              <a:rPr lang="fr-CA" smtClean="0"/>
              <a:t>2026-04-15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58306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A939-7F90-4CCE-87BA-35FC2A8E526A}" type="datetime1">
              <a:rPr lang="fr-CA" smtClean="0"/>
              <a:t>2026-04-15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60983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AC674-F067-46C5-8A45-4DF5DEE2BBA5}" type="datetime1">
              <a:rPr lang="fr-CA" smtClean="0"/>
              <a:t>2026-04-15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57110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F2D03-E6FD-40F9-B07B-3E762ACE9E89}" type="datetime1">
              <a:rPr lang="fr-CA" smtClean="0"/>
              <a:t>2026-04-15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28030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D666-A5BB-40C6-B976-8375251EA565}" type="datetime1">
              <a:rPr lang="fr-CA" smtClean="0"/>
              <a:t>2026-04-15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77554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D87FF-2E6B-4A78-A609-6CE949A68979}" type="datetime1">
              <a:rPr lang="fr-CA" smtClean="0"/>
              <a:t>2026-04-15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50683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E3842-6FC8-4DD4-A505-3ABB63C24916}" type="datetime1">
              <a:rPr lang="fr-CA" smtClean="0"/>
              <a:t>2026-04-15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85689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FFE8-2DEA-4C86-BDC1-1B4E5DBADBDC}" type="datetime1">
              <a:rPr lang="fr-CA" smtClean="0"/>
              <a:t>2026-04-15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29892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4BE4D-ADC6-482A-BD27-857424F970DA}" type="datetime1">
              <a:rPr lang="fr-CA" smtClean="0"/>
              <a:t>2026-04-15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57C70-95D0-4507-B785-C852A1CEF3D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54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aftaliharris.com/blog/visualizing-k-means-clustering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Centroid" TargetMode="External"/><Relationship Id="rId3" Type="http://schemas.openxmlformats.org/officeDocument/2006/relationships/hyperlink" Target="https://en.wikipedia.org/wiki/Cluster_analysis#Applications" TargetMode="External"/><Relationship Id="rId7" Type="http://schemas.openxmlformats.org/officeDocument/2006/relationships/hyperlink" Target="https://fr.wikipedia.org/wiki/Barycentre_(g%C3%A9om%C3%A9trie_%C3%A9l%C3%A9mentaire)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r.wikipedia.org/wiki/Barycentre" TargetMode="External"/><Relationship Id="rId5" Type="http://schemas.openxmlformats.org/officeDocument/2006/relationships/hyperlink" Target="https://fr.wikipedia.org/wiki/Partitionnement_de_donn%C3%A9es" TargetMode="External"/><Relationship Id="rId4" Type="http://schemas.openxmlformats.org/officeDocument/2006/relationships/hyperlink" Target="https://sites.google.com/site/dataclusteringalgorithms/clustering-algorithm-applica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 bwMode="white">
          <a:xfrm>
            <a:off x="685800" y="2130425"/>
            <a:ext cx="7772400" cy="2234679"/>
          </a:xfrm>
        </p:spPr>
        <p:txBody>
          <a:bodyPr>
            <a:normAutofit/>
          </a:bodyPr>
          <a:lstStyle/>
          <a:p>
            <a:r>
              <a:rPr lang="fr-CA" dirty="0">
                <a:solidFill>
                  <a:schemeClr val="bg1"/>
                </a:solidFill>
              </a:rPr>
              <a:t>Clustering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 bwMode="black"/>
        <p:txBody>
          <a:bodyPr/>
          <a:lstStyle/>
          <a:p>
            <a:endParaRPr lang="fr-CA" dirty="0"/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38607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Beaucoup de données, peu de sens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black"/>
        <p:txBody>
          <a:bodyPr>
            <a:normAutofit fontScale="92500" lnSpcReduction="20000"/>
          </a:bodyPr>
          <a:lstStyle/>
          <a:p>
            <a:r>
              <a:rPr lang="fr-CA" dirty="0">
                <a:solidFill>
                  <a:schemeClr val="bg1"/>
                </a:solidFill>
              </a:rPr>
              <a:t>Une des tâches classiques de l'IA est le partitionnement de données (data clustering).</a:t>
            </a:r>
          </a:p>
          <a:p>
            <a:pPr lvl="1"/>
            <a:r>
              <a:rPr lang="fr-CA" dirty="0">
                <a:solidFill>
                  <a:schemeClr val="bg1"/>
                </a:solidFill>
              </a:rPr>
              <a:t>Applications:</a:t>
            </a:r>
          </a:p>
          <a:p>
            <a:pPr lvl="2"/>
            <a:r>
              <a:rPr lang="fr-CA" dirty="0">
                <a:solidFill>
                  <a:schemeClr val="bg1"/>
                </a:solidFill>
              </a:rPr>
              <a:t>Imagerie médicale</a:t>
            </a:r>
          </a:p>
          <a:p>
            <a:pPr lvl="3"/>
            <a:r>
              <a:rPr lang="fr-CA" dirty="0">
                <a:solidFill>
                  <a:schemeClr val="bg1"/>
                </a:solidFill>
              </a:rPr>
              <a:t>Différencier des tissus</a:t>
            </a:r>
          </a:p>
          <a:p>
            <a:pPr lvl="2"/>
            <a:r>
              <a:rPr lang="fr-CA" dirty="0">
                <a:solidFill>
                  <a:schemeClr val="bg1"/>
                </a:solidFill>
              </a:rPr>
              <a:t>Génétique</a:t>
            </a:r>
          </a:p>
          <a:p>
            <a:pPr lvl="3"/>
            <a:r>
              <a:rPr lang="fr-CA" dirty="0">
                <a:solidFill>
                  <a:schemeClr val="bg1"/>
                </a:solidFill>
              </a:rPr>
              <a:t>Identifier des familles de gènes </a:t>
            </a:r>
          </a:p>
          <a:p>
            <a:pPr lvl="2"/>
            <a:r>
              <a:rPr lang="fr-CA" dirty="0">
                <a:solidFill>
                  <a:schemeClr val="bg1"/>
                </a:solidFill>
              </a:rPr>
              <a:t>Commerce électronique</a:t>
            </a:r>
          </a:p>
          <a:p>
            <a:pPr lvl="3"/>
            <a:r>
              <a:rPr lang="fr-CA" dirty="0">
                <a:solidFill>
                  <a:schemeClr val="bg1"/>
                </a:solidFill>
              </a:rPr>
              <a:t>Grouper des achats potentiels pour un client.</a:t>
            </a:r>
          </a:p>
          <a:p>
            <a:pPr lvl="4"/>
            <a:r>
              <a:rPr lang="fr-CA" dirty="0">
                <a:solidFill>
                  <a:schemeClr val="bg1"/>
                </a:solidFill>
              </a:rPr>
              <a:t>Suggestions</a:t>
            </a:r>
          </a:p>
          <a:p>
            <a:pPr lvl="2"/>
            <a:r>
              <a:rPr lang="fr-CA" dirty="0">
                <a:solidFill>
                  <a:schemeClr val="bg1"/>
                </a:solidFill>
              </a:rPr>
              <a:t> Analyse de réseaux sociaux</a:t>
            </a:r>
          </a:p>
          <a:p>
            <a:pPr lvl="3"/>
            <a:r>
              <a:rPr lang="fr-CA" dirty="0">
                <a:solidFill>
                  <a:schemeClr val="bg1"/>
                </a:solidFill>
              </a:rPr>
              <a:t>Reconnaître des "communautés" d'utilisateurs.</a:t>
            </a:r>
          </a:p>
          <a:p>
            <a:pPr lvl="2"/>
            <a:r>
              <a:rPr lang="fr-CA" dirty="0">
                <a:solidFill>
                  <a:schemeClr val="bg1"/>
                </a:solidFill>
              </a:rPr>
              <a:t>…</a:t>
            </a:r>
          </a:p>
          <a:p>
            <a:pPr lvl="2"/>
            <a:endParaRPr lang="fr-CA" dirty="0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61242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Partitionnement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black"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fr-CA" dirty="0">
                <a:solidFill>
                  <a:schemeClr val="bg1"/>
                </a:solidFill>
              </a:rPr>
              <a:t>Le partitionnement de données se fait sur un ensemble de données représentées sous la forme de points dans un espace</a:t>
            </a:r>
            <a:br>
              <a:rPr lang="fr-CA" dirty="0">
                <a:solidFill>
                  <a:schemeClr val="bg1"/>
                </a:solidFill>
              </a:rPr>
            </a:br>
            <a:r>
              <a:rPr lang="fr-CA" dirty="0">
                <a:solidFill>
                  <a:schemeClr val="bg1"/>
                </a:solidFill>
              </a:rPr>
              <a:t>n-dimensionnel.</a:t>
            </a:r>
          </a:p>
          <a:p>
            <a:pPr lvl="1"/>
            <a:r>
              <a:rPr lang="fr-CA" dirty="0">
                <a:solidFill>
                  <a:schemeClr val="bg1"/>
                </a:solidFill>
              </a:rPr>
              <a:t>Notre analyse des cooccurrences de mots dans un texte génère de tels points.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17139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Partitionnement/Clustering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black"/>
        <p:txBody>
          <a:bodyPr vert="horz" lIns="91440" tIns="45720" rIns="91440" bIns="45720" rtlCol="0" anchor="t">
            <a:normAutofit/>
          </a:bodyPr>
          <a:lstStyle/>
          <a:p>
            <a:r>
              <a:rPr lang="fr-CA" dirty="0">
                <a:solidFill>
                  <a:schemeClr val="bg1"/>
                </a:solidFill>
              </a:rPr>
              <a:t>L'idée derrière le clustering (partitionnement) est que l'on cherche à regrouper nos données afin que certaines d'entre elles appartiennent à un premier "cluster" (partition), d'autres, à un deuxième cluster, et ainsi de suite.</a:t>
            </a:r>
          </a:p>
          <a:p>
            <a:pPr lvl="1"/>
            <a:r>
              <a:rPr lang="fr-CA" dirty="0">
                <a:solidFill>
                  <a:schemeClr val="bg1"/>
                </a:solidFill>
              </a:rPr>
              <a:t>Dans le fond, on fait déjà du clustering…</a:t>
            </a:r>
            <a:endParaRPr lang="fr-CA" dirty="0">
              <a:solidFill>
                <a:schemeClr val="bg1"/>
              </a:solidFill>
              <a:cs typeface="Calibri"/>
            </a:endParaRPr>
          </a:p>
          <a:p>
            <a:pPr lvl="2"/>
            <a:r>
              <a:rPr lang="fr-CA" dirty="0">
                <a:solidFill>
                  <a:schemeClr val="bg1"/>
                </a:solidFill>
                <a:cs typeface="Calibri"/>
              </a:rPr>
              <a:t>Nous y reviendrons.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3533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Clustering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black"/>
        <p:txBody>
          <a:bodyPr vert="horz" lIns="91440" tIns="45720" rIns="91440" bIns="45720" rtlCol="0" anchor="t">
            <a:normAutofit/>
          </a:bodyPr>
          <a:lstStyle/>
          <a:p>
            <a:r>
              <a:rPr lang="fr-CA" dirty="0">
                <a:solidFill>
                  <a:schemeClr val="bg1"/>
                </a:solidFill>
              </a:rPr>
              <a:t>Afin de visualiser la situation de manière graphique, limitons notre espace à deux dimensions.</a:t>
            </a:r>
          </a:p>
          <a:p>
            <a:pPr lvl="1"/>
            <a:r>
              <a:rPr lang="fr-CA" dirty="0">
                <a:solidFill>
                  <a:schemeClr val="bg1"/>
                </a:solidFill>
              </a:rPr>
              <a:t>On peut extrapoler les concepts qui suivront à un espace n-dimensionnel comme nous l'avons fait en classe.</a:t>
            </a:r>
          </a:p>
          <a:p>
            <a:pPr lvl="2"/>
            <a:r>
              <a:rPr lang="fr-CA" dirty="0">
                <a:solidFill>
                  <a:schemeClr val="bg1"/>
                </a:solidFill>
                <a:cs typeface="Calibri"/>
              </a:rPr>
              <a:t>i.e. Pythagore sur 2 dimensions, ensuite sur 3 dimensions, etc.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26356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Clustering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D8386BCB-E4C5-4B12-AEE4-7006CDE46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1190209" y="1600200"/>
            <a:ext cx="6763581" cy="4525963"/>
          </a:xfrm>
        </p:spPr>
      </p:pic>
    </p:spTree>
    <p:extLst>
      <p:ext uri="{BB962C8B-B14F-4D97-AF65-F5344CB8AC3E}">
        <p14:creationId xmlns:p14="http://schemas.microsoft.com/office/powerpoint/2010/main" val="946757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Clustering: approches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black"/>
        <p:txBody>
          <a:bodyPr>
            <a:normAutofit/>
          </a:bodyPr>
          <a:lstStyle/>
          <a:p>
            <a:r>
              <a:rPr lang="fr-CA" dirty="0">
                <a:solidFill>
                  <a:schemeClr val="bg1"/>
                </a:solidFill>
              </a:rPr>
              <a:t>Il existe plusieurs types de partitionnement de données.</a:t>
            </a:r>
          </a:p>
          <a:p>
            <a:pPr lvl="1"/>
            <a:r>
              <a:rPr lang="fr-CA" dirty="0">
                <a:solidFill>
                  <a:schemeClr val="bg1"/>
                </a:solidFill>
              </a:rPr>
              <a:t>Nous verrons le partitionnement de données à l'aide de centroïdes.</a:t>
            </a:r>
          </a:p>
          <a:p>
            <a:pPr lvl="2"/>
            <a:r>
              <a:rPr lang="fr-CA" dirty="0">
                <a:solidFill>
                  <a:schemeClr val="bg1"/>
                </a:solidFill>
              </a:rPr>
              <a:t>Les centroïdes sont les barycentres géométriques des partitions (clusters).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95061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Clustering: Centroïdes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black"/>
        <p:txBody>
          <a:bodyPr>
            <a:normAutofit/>
          </a:bodyPr>
          <a:lstStyle/>
          <a:p>
            <a:r>
              <a:rPr lang="fr-CA" dirty="0">
                <a:solidFill>
                  <a:schemeClr val="bg1"/>
                </a:solidFill>
              </a:rPr>
              <a:t>Centroïde</a:t>
            </a:r>
          </a:p>
          <a:p>
            <a:pPr lvl="1"/>
            <a:r>
              <a:rPr lang="fr-CA" dirty="0">
                <a:solidFill>
                  <a:schemeClr val="bg1"/>
                </a:solidFill>
              </a:rPr>
              <a:t>Le centroïde, barycentre, centre de gravité, </a:t>
            </a:r>
            <a:r>
              <a:rPr lang="fr-CA" dirty="0" err="1">
                <a:solidFill>
                  <a:schemeClr val="bg1"/>
                </a:solidFill>
              </a:rPr>
              <a:t>etc</a:t>
            </a:r>
            <a:r>
              <a:rPr lang="fr-CA" dirty="0">
                <a:solidFill>
                  <a:schemeClr val="bg1"/>
                </a:solidFill>
              </a:rPr>
              <a:t>, c’est le point sur lequel peut se maintenir en équilibre un système.</a:t>
            </a:r>
          </a:p>
          <a:p>
            <a:pPr lvl="2"/>
            <a:r>
              <a:rPr lang="fr-CA" dirty="0">
                <a:solidFill>
                  <a:schemeClr val="bg1"/>
                </a:solidFill>
              </a:rPr>
              <a:t>Pensez à un mobile de bébé ou bien tenir un cabaret de cafétéria en équilibre sur son doigt.</a:t>
            </a:r>
          </a:p>
          <a:p>
            <a:pPr lvl="2"/>
            <a:endParaRPr lang="fr-CA" dirty="0">
              <a:solidFill>
                <a:schemeClr val="bg1"/>
              </a:solidFill>
            </a:endParaRPr>
          </a:p>
          <a:p>
            <a:pPr lvl="2"/>
            <a:r>
              <a:rPr lang="fr-CA" dirty="0">
                <a:solidFill>
                  <a:schemeClr val="bg1"/>
                </a:solidFill>
              </a:rPr>
              <a:t>Comment trouve-t-on ce point?</a:t>
            </a:r>
          </a:p>
          <a:p>
            <a:pPr lvl="1"/>
            <a:endParaRPr lang="fr-CA" dirty="0">
              <a:solidFill>
                <a:schemeClr val="bg1"/>
              </a:solidFill>
            </a:endParaRPr>
          </a:p>
          <a:p>
            <a:pPr lvl="1"/>
            <a:endParaRPr lang="fr-CA" dirty="0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6014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Clustering: Centroïdes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black"/>
        <p:txBody>
          <a:bodyPr>
            <a:normAutofit/>
          </a:bodyPr>
          <a:lstStyle/>
          <a:p>
            <a:r>
              <a:rPr lang="fr-CA" dirty="0">
                <a:solidFill>
                  <a:schemeClr val="bg1"/>
                </a:solidFill>
              </a:rPr>
              <a:t>En physique, on calcule le barycentre en additionnant les coordonnées des points, que l’on pondère à l’aide des poids de chaque objet dans le système.</a:t>
            </a:r>
          </a:p>
          <a:p>
            <a:pPr lvl="1"/>
            <a:r>
              <a:rPr lang="fr-CA" dirty="0">
                <a:solidFill>
                  <a:schemeClr val="bg1"/>
                </a:solidFill>
              </a:rPr>
              <a:t>En géométrie, barycentre et centroïde sont des synonymes.</a:t>
            </a:r>
          </a:p>
          <a:p>
            <a:pPr lvl="1"/>
            <a:endParaRPr lang="fr-CA" dirty="0">
              <a:solidFill>
                <a:schemeClr val="bg1"/>
              </a:solidFill>
            </a:endParaRPr>
          </a:p>
          <a:p>
            <a:pPr lvl="1"/>
            <a:endParaRPr lang="fr-CA" dirty="0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78799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Clustering: Centroïdes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</p:nvPr>
            </p:nvSpPr>
            <p:spPr bwMode="black"/>
            <p:txBody>
              <a:bodyPr>
                <a:normAutofit/>
              </a:bodyPr>
              <a:lstStyle/>
              <a:p>
                <a:pPr lvl="1"/>
                <a:r>
                  <a:rPr lang="fr-CA" dirty="0">
                    <a:solidFill>
                      <a:schemeClr val="bg1"/>
                    </a:solidFill>
                  </a:rPr>
                  <a:t>Pour les points A, B et C, possédant les poids respectifs a, b, et c, le barycentre G est fourni par la relation suivante:</a:t>
                </a:r>
              </a:p>
              <a:p>
                <a:pPr marL="1371600" lvl="3" indent="0">
                  <a:buNone/>
                </a:pPr>
                <a:endParaRPr lang="fr-CA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1371600" lvl="3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fr-CA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A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fr-CA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fr-CA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CA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fr-CA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CA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fr-CA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CA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fr-CA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fr-CA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fr-CA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fr-CA" dirty="0">
                  <a:solidFill>
                    <a:schemeClr val="bg1"/>
                  </a:solidFill>
                </a:endParaRPr>
              </a:p>
              <a:p>
                <a:pPr lvl="1"/>
                <a:endParaRPr lang="fr-CA" dirty="0">
                  <a:solidFill>
                    <a:schemeClr val="bg1"/>
                  </a:solidFill>
                </a:endParaRPr>
              </a:p>
              <a:p>
                <a:pPr lvl="1"/>
                <a:endParaRPr lang="fr-CA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black">
              <a:blipFill>
                <a:blip r:embed="rId3"/>
                <a:stretch>
                  <a:fillRect t="-1348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66763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Clustering: Centroïdes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</p:nvPr>
            </p:nvSpPr>
            <p:spPr bwMode="black">
              <a:xfrm>
                <a:off x="457200" y="1600200"/>
                <a:ext cx="8229600" cy="452596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fr-CA" dirty="0">
                    <a:solidFill>
                      <a:schemeClr val="bg1"/>
                    </a:solidFill>
                  </a:rPr>
                  <a:t>S'il y a "n" points (A</a:t>
                </a:r>
                <a:r>
                  <a:rPr lang="fr-CA" baseline="-25000" dirty="0">
                    <a:solidFill>
                      <a:schemeClr val="bg1"/>
                    </a:solidFill>
                  </a:rPr>
                  <a:t>i</a:t>
                </a:r>
                <a:r>
                  <a:rPr lang="fr-CA" dirty="0">
                    <a:solidFill>
                      <a:schemeClr val="bg1"/>
                    </a:solidFill>
                  </a:rPr>
                  <a:t>) et ils ont tous le même poids, disons "m", la formule devient:</a:t>
                </a:r>
              </a:p>
              <a:p>
                <a:pPr marL="1371600" lvl="3" indent="0">
                  <a:buNone/>
                </a:pPr>
                <a:endParaRPr lang="fr-CA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1371600" lvl="3" indent="0">
                  <a:buNone/>
                </a:pPr>
                <a:r>
                  <a:rPr lang="fr-CA" dirty="0">
                    <a:solidFill>
                      <a:schemeClr val="bg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fr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fr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fr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fr-CA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CA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fr-CA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 …+</m:t>
                        </m:r>
                        <m:r>
                          <a:rPr lang="fr-CA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sSub>
                      <m:sSubPr>
                        <m:ctrlPr>
                          <a:rPr lang="fr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fr-CA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fr-CA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CA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fr-CA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 …+</m:t>
                        </m:r>
                        <m:r>
                          <a:rPr lang="fr-CA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sSub>
                      <m:sSubPr>
                        <m:ctrlPr>
                          <a:rPr lang="fr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f>
                      <m:fPr>
                        <m:ctrlPr>
                          <a:rPr lang="fr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fr-CA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fr-CA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CA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fr-CA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+… + </m:t>
                        </m:r>
                        <m:r>
                          <a:rPr lang="fr-CA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sSub>
                      <m:sSubPr>
                        <m:ctrlPr>
                          <a:rPr lang="fr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fr-CA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1371600" lvl="3" indent="0">
                  <a:buNone/>
                </a:pPr>
                <a:endParaRPr lang="fr-CA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1828800" lvl="4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fr-CA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A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fr-CA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𝑚𝑛</m:t>
                          </m:r>
                        </m:den>
                      </m:f>
                      <m:sSub>
                        <m:sSubPr>
                          <m:ctrlPr>
                            <a:rPr lang="fr-CA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CA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CA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fr-CA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𝑚𝑛</m:t>
                          </m:r>
                        </m:den>
                      </m:f>
                      <m:sSub>
                        <m:sSubPr>
                          <m:ctrlP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CA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CA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fr-CA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𝑚𝑛</m:t>
                          </m:r>
                        </m:den>
                      </m:f>
                      <m:sSub>
                        <m:sSubPr>
                          <m:ctrlP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CA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fr-CA" dirty="0">
                  <a:solidFill>
                    <a:schemeClr val="bg1"/>
                  </a:solidFill>
                </a:endParaRPr>
              </a:p>
              <a:p>
                <a:pPr marL="1371600" lvl="3" indent="0">
                  <a:buNone/>
                </a:pPr>
                <a:endParaRPr lang="fr-CA" dirty="0">
                  <a:solidFill>
                    <a:schemeClr val="bg1"/>
                  </a:solidFill>
                </a:endParaRPr>
              </a:p>
              <a:p>
                <a:pPr marL="1371600" lvl="3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fr-CA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>
                        <m:sSubPr>
                          <m:ctrlP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CA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>
                        <m:sSubPr>
                          <m:ctrlP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CA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>
                        <m:sSubPr>
                          <m:ctrlP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fr-CA" dirty="0">
                  <a:solidFill>
                    <a:schemeClr val="bg1"/>
                  </a:solidFill>
                </a:endParaRPr>
              </a:p>
              <a:p>
                <a:pPr marL="1371600" lvl="3" indent="0">
                  <a:buNone/>
                </a:pPr>
                <a:endParaRPr lang="fr-CA" dirty="0">
                  <a:solidFill>
                    <a:schemeClr val="bg1"/>
                  </a:solidFill>
                </a:endParaRPr>
              </a:p>
              <a:p>
                <a:pPr marL="1371600" lvl="3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fr-CA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fr-CA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CA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CA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CA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CA" dirty="0">
                  <a:solidFill>
                    <a:schemeClr val="bg1"/>
                  </a:solidFill>
                </a:endParaRPr>
              </a:p>
              <a:p>
                <a:pPr marL="1371600" lvl="3" indent="0">
                  <a:buNone/>
                </a:pPr>
                <a:endParaRPr lang="fr-CA" dirty="0">
                  <a:solidFill>
                    <a:schemeClr val="bg1"/>
                  </a:solidFill>
                </a:endParaRPr>
              </a:p>
              <a:p>
                <a:pPr marL="1371600" lvl="3" indent="0">
                  <a:buNone/>
                </a:pPr>
                <a:endParaRPr lang="fr-CA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black">
              <a:xfrm>
                <a:off x="457200" y="1600200"/>
                <a:ext cx="8229600" cy="4525963"/>
              </a:xfrm>
              <a:blipFill>
                <a:blip r:embed="rId3"/>
                <a:stretch>
                  <a:fillRect l="-1704" t="-2830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66674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Clustering: Centroïdes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</p:nvPr>
            </p:nvSpPr>
            <p:spPr bwMode="black"/>
            <p:txBody>
              <a:bodyPr>
                <a:normAutofit/>
              </a:bodyPr>
              <a:lstStyle/>
              <a:p>
                <a:r>
                  <a:rPr lang="fr-CA" dirty="0">
                    <a:solidFill>
                      <a:schemeClr val="bg1"/>
                    </a:solidFill>
                  </a:rPr>
                  <a:t>Cette formule peut être réécrite comme suit:</a:t>
                </a:r>
              </a:p>
              <a:p>
                <a:endParaRPr lang="fr-CA" dirty="0">
                  <a:solidFill>
                    <a:schemeClr val="bg1"/>
                  </a:solidFill>
                </a:endParaRPr>
              </a:p>
              <a:p>
                <a:pPr marL="1371600" lvl="3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fr-CA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fr-CA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CA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CA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fr-CA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fr-CA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A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CA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fr-CA" dirty="0">
                  <a:solidFill>
                    <a:schemeClr val="bg1"/>
                  </a:solidFill>
                </a:endParaRPr>
              </a:p>
              <a:p>
                <a:pPr lvl="1"/>
                <a:endParaRPr lang="fr-CA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fr-CA" dirty="0">
                    <a:solidFill>
                      <a:schemeClr val="bg1"/>
                    </a:solidFill>
                  </a:rPr>
                  <a:t>Vous semble-t-elle familière?</a:t>
                </a: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black">
              <a:blipFill>
                <a:blip r:embed="rId3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12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06682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Clustering: Centroïdes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black"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fr-CA" dirty="0">
                <a:solidFill>
                  <a:schemeClr val="bg1"/>
                </a:solidFill>
              </a:rPr>
              <a:t>Une moyenne!</a:t>
            </a:r>
          </a:p>
          <a:p>
            <a:pPr lvl="1"/>
            <a:r>
              <a:rPr lang="fr-CA" dirty="0">
                <a:solidFill>
                  <a:schemeClr val="bg1"/>
                </a:solidFill>
              </a:rPr>
              <a:t>Le centroïde est donc le point moyen du cluster.</a:t>
            </a:r>
          </a:p>
          <a:p>
            <a:pPr lvl="2"/>
            <a:r>
              <a:rPr lang="fr-CA" dirty="0">
                <a:solidFill>
                  <a:schemeClr val="bg1"/>
                </a:solidFill>
                <a:cs typeface="Calibri"/>
              </a:rPr>
              <a:t>Lorsque tous les points ont le même poids, bien sûr.</a:t>
            </a:r>
          </a:p>
          <a:p>
            <a:pPr lvl="1"/>
            <a:endParaRPr lang="fr-CA" dirty="0">
              <a:solidFill>
                <a:schemeClr val="bg1"/>
              </a:solidFill>
            </a:endParaRPr>
          </a:p>
          <a:p>
            <a:r>
              <a:rPr lang="fr-CA" dirty="0">
                <a:solidFill>
                  <a:schemeClr val="bg1"/>
                </a:solidFill>
              </a:rPr>
              <a:t>Notre problématique serait triviale si nous  voulions créer un seul cluster avec un seul centroïde.</a:t>
            </a:r>
          </a:p>
          <a:p>
            <a:pPr lvl="1"/>
            <a:r>
              <a:rPr lang="fr-CA" dirty="0">
                <a:solidFill>
                  <a:schemeClr val="bg1"/>
                </a:solidFill>
              </a:rPr>
              <a:t>Nous pourrions additionner les coordonnées de tous les points, prendre la moyenne et voilà!</a:t>
            </a:r>
          </a:p>
          <a:p>
            <a:pPr lvl="2"/>
            <a:r>
              <a:rPr lang="fr-CA" dirty="0">
                <a:solidFill>
                  <a:schemeClr val="bg1"/>
                </a:solidFill>
              </a:rPr>
              <a:t>En fait, le cluster serait l'ensemble de tous les points.</a:t>
            </a:r>
            <a:endParaRPr lang="fr-CA" dirty="0">
              <a:solidFill>
                <a:schemeClr val="bg1"/>
              </a:solidFill>
              <a:cs typeface="Calibri"/>
            </a:endParaRPr>
          </a:p>
          <a:p>
            <a:pPr lvl="3"/>
            <a:r>
              <a:rPr lang="fr-CA" dirty="0">
                <a:solidFill>
                  <a:schemeClr val="bg1"/>
                </a:solidFill>
              </a:rPr>
              <a:t>Mais que faire lorsque nous voulons faire plus d'une partition?</a:t>
            </a:r>
          </a:p>
          <a:p>
            <a:pPr lvl="1"/>
            <a:endParaRPr lang="fr-CA" dirty="0">
              <a:solidFill>
                <a:schemeClr val="bg1"/>
              </a:solidFill>
            </a:endParaRPr>
          </a:p>
          <a:p>
            <a:pPr lvl="1"/>
            <a:endParaRPr lang="fr-CA" dirty="0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35344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Clustering: Centroïdes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black"/>
        <p:txBody>
          <a:bodyPr>
            <a:normAutofit/>
          </a:bodyPr>
          <a:lstStyle/>
          <a:p>
            <a:r>
              <a:rPr lang="fr-CA" dirty="0">
                <a:solidFill>
                  <a:schemeClr val="bg1"/>
                </a:solidFill>
              </a:rPr>
              <a:t>Nous utiliserons l'algorithme du k-</a:t>
            </a:r>
            <a:r>
              <a:rPr lang="fr-CA" dirty="0" err="1">
                <a:solidFill>
                  <a:schemeClr val="bg1"/>
                </a:solidFill>
              </a:rPr>
              <a:t>means</a:t>
            </a:r>
            <a:r>
              <a:rPr lang="fr-CA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lang="fr-CA" dirty="0">
                <a:solidFill>
                  <a:schemeClr val="bg1"/>
                </a:solidFill>
              </a:rPr>
              <a:t>"k" identifie simplement le nombre de centroïdes que l'on voudra utiliser.</a:t>
            </a:r>
          </a:p>
          <a:p>
            <a:pPr lvl="1"/>
            <a:r>
              <a:rPr lang="fr-CA" dirty="0">
                <a:solidFill>
                  <a:schemeClr val="bg1"/>
                </a:solidFill>
              </a:rPr>
              <a:t>En anglais, "</a:t>
            </a:r>
            <a:r>
              <a:rPr lang="fr-CA" dirty="0" err="1">
                <a:solidFill>
                  <a:schemeClr val="bg1"/>
                </a:solidFill>
              </a:rPr>
              <a:t>mean</a:t>
            </a:r>
            <a:r>
              <a:rPr lang="fr-CA" dirty="0">
                <a:solidFill>
                  <a:schemeClr val="bg1"/>
                </a:solidFill>
              </a:rPr>
              <a:t>" veut aussi dire une moyenne.</a:t>
            </a:r>
          </a:p>
          <a:p>
            <a:pPr lvl="1"/>
            <a:r>
              <a:rPr lang="fr-CA" dirty="0">
                <a:solidFill>
                  <a:schemeClr val="bg1"/>
                </a:solidFill>
              </a:rPr>
              <a:t>Donc k-moyennes</a:t>
            </a:r>
          </a:p>
          <a:p>
            <a:pPr lvl="2"/>
            <a:r>
              <a:rPr lang="fr-CA" dirty="0">
                <a:solidFill>
                  <a:schemeClr val="bg1"/>
                </a:solidFill>
              </a:rPr>
              <a:t>Chaque centroïde (moyenne) est au centre de "son" cluster.</a:t>
            </a:r>
          </a:p>
          <a:p>
            <a:pPr lvl="3"/>
            <a:r>
              <a:rPr lang="fr-CA" dirty="0">
                <a:solidFill>
                  <a:schemeClr val="bg1"/>
                </a:solidFill>
              </a:rPr>
              <a:t>Il y a donc "k" clusters.</a:t>
            </a:r>
          </a:p>
          <a:p>
            <a:pPr lvl="1"/>
            <a:endParaRPr lang="fr-CA" dirty="0">
              <a:solidFill>
                <a:schemeClr val="bg1"/>
              </a:solidFill>
            </a:endParaRPr>
          </a:p>
          <a:p>
            <a:pPr lvl="1"/>
            <a:endParaRPr lang="fr-CA" dirty="0">
              <a:solidFill>
                <a:schemeClr val="bg1"/>
              </a:solidFill>
            </a:endParaRPr>
          </a:p>
          <a:p>
            <a:pPr lvl="1"/>
            <a:endParaRPr lang="fr-CA" dirty="0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35964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Clustering: Centroïdes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black"/>
        <p:txBody>
          <a:bodyPr>
            <a:normAutofit/>
          </a:bodyPr>
          <a:lstStyle/>
          <a:p>
            <a:r>
              <a:rPr lang="fr-CA" dirty="0">
                <a:solidFill>
                  <a:schemeClr val="bg1"/>
                </a:solidFill>
              </a:rPr>
              <a:t>Assumons que dans notre espace de points, chaque point (mot) possède la même importance que les autres.</a:t>
            </a:r>
          </a:p>
          <a:p>
            <a:pPr lvl="1"/>
            <a:r>
              <a:rPr lang="fr-CA" dirty="0">
                <a:solidFill>
                  <a:schemeClr val="bg1"/>
                </a:solidFill>
              </a:rPr>
              <a:t>Tous les mots ont donc le même poids.</a:t>
            </a:r>
          </a:p>
          <a:p>
            <a:pPr lvl="1"/>
            <a:endParaRPr lang="fr-CA" dirty="0">
              <a:solidFill>
                <a:schemeClr val="bg1"/>
              </a:solidFill>
            </a:endParaRPr>
          </a:p>
          <a:p>
            <a:pPr lvl="1"/>
            <a:endParaRPr lang="fr-CA" dirty="0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15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5596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Clustering: Centroïdes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black"/>
        <p:txBody>
          <a:bodyPr>
            <a:normAutofit fontScale="77500" lnSpcReduction="20000"/>
          </a:bodyPr>
          <a:lstStyle/>
          <a:p>
            <a:r>
              <a:rPr lang="fr-CA" dirty="0">
                <a:solidFill>
                  <a:schemeClr val="bg1"/>
                </a:solidFill>
              </a:rPr>
              <a:t>INIT</a:t>
            </a:r>
          </a:p>
          <a:p>
            <a:pPr lvl="1"/>
            <a:r>
              <a:rPr lang="fr-CA" dirty="0">
                <a:solidFill>
                  <a:schemeClr val="bg1"/>
                </a:solidFill>
              </a:rPr>
              <a:t>On place k centroïdes aléatoirement.</a:t>
            </a:r>
          </a:p>
          <a:p>
            <a:pPr lvl="1"/>
            <a:r>
              <a:rPr lang="fr-CA" dirty="0">
                <a:solidFill>
                  <a:schemeClr val="bg1"/>
                </a:solidFill>
              </a:rPr>
              <a:t>Chaque mot va dans le cluster du centroïde le plus proche.</a:t>
            </a:r>
          </a:p>
          <a:p>
            <a:pPr lvl="1"/>
            <a:r>
              <a:rPr lang="fr-CA" dirty="0">
                <a:solidFill>
                  <a:schemeClr val="bg1"/>
                </a:solidFill>
              </a:rPr>
              <a:t>Tous les mots ont ainsi migré de cluster.</a:t>
            </a:r>
          </a:p>
          <a:p>
            <a:r>
              <a:rPr lang="fr-CA" dirty="0">
                <a:solidFill>
                  <a:schemeClr val="bg1"/>
                </a:solidFill>
              </a:rPr>
              <a:t>TANT QUE nombre de migrations &gt; 0</a:t>
            </a:r>
          </a:p>
          <a:p>
            <a:pPr lvl="1"/>
            <a:r>
              <a:rPr lang="fr-CA" dirty="0">
                <a:solidFill>
                  <a:schemeClr val="bg1"/>
                </a:solidFill>
              </a:rPr>
              <a:t>On calcule les nouveaux centroïdes des k clusters, i.e. la coordonnée moyenne de tous les mots d’un cluster devient le nouveau centroïde de ce cluster.</a:t>
            </a:r>
          </a:p>
          <a:p>
            <a:pPr lvl="1"/>
            <a:r>
              <a:rPr lang="fr-CA" dirty="0">
                <a:solidFill>
                  <a:schemeClr val="bg1"/>
                </a:solidFill>
              </a:rPr>
              <a:t>Chaque mot va dans le cluster du centroïde le plus proche.</a:t>
            </a:r>
          </a:p>
          <a:p>
            <a:pPr lvl="1"/>
            <a:r>
              <a:rPr lang="fr-CA" dirty="0">
                <a:solidFill>
                  <a:schemeClr val="bg1"/>
                </a:solidFill>
              </a:rPr>
              <a:t>On compte le nombre de mots qui ont migré de cluster.</a:t>
            </a:r>
          </a:p>
          <a:p>
            <a:r>
              <a:rPr lang="fr-CA" dirty="0">
                <a:solidFill>
                  <a:schemeClr val="bg1"/>
                </a:solidFill>
              </a:rPr>
              <a:t>RETOURNE</a:t>
            </a:r>
          </a:p>
          <a:p>
            <a:pPr lvl="1"/>
            <a:r>
              <a:rPr lang="fr-CA" dirty="0">
                <a:solidFill>
                  <a:schemeClr val="bg1"/>
                </a:solidFill>
              </a:rPr>
              <a:t>Les « n » mots les plus proches de chaque centroïde en ordre croissant de proximité.</a:t>
            </a:r>
          </a:p>
          <a:p>
            <a:pPr marL="457200" lvl="1" indent="0">
              <a:buNone/>
            </a:pPr>
            <a:endParaRPr lang="fr-CA" dirty="0">
              <a:solidFill>
                <a:schemeClr val="bg1"/>
              </a:solidFill>
            </a:endParaRPr>
          </a:p>
          <a:p>
            <a:pPr lvl="1"/>
            <a:endParaRPr lang="fr-CA" dirty="0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30359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Clustering: Centroïdes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black"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fr-CA" dirty="0">
                <a:solidFill>
                  <a:schemeClr val="bg1"/>
                </a:solidFill>
              </a:rPr>
              <a:t>Jusqu'à présent dans ce cours, on s'arrêtait plus ou moins à la phase init avec k = 1 (1-mean).</a:t>
            </a:r>
          </a:p>
          <a:p>
            <a:pPr lvl="1"/>
            <a:r>
              <a:rPr lang="fr-CA" dirty="0">
                <a:solidFill>
                  <a:schemeClr val="bg1"/>
                </a:solidFill>
              </a:rPr>
              <a:t>On fournissait un centroïde</a:t>
            </a:r>
          </a:p>
          <a:p>
            <a:pPr lvl="2"/>
            <a:r>
              <a:rPr lang="fr-CA" dirty="0">
                <a:solidFill>
                  <a:schemeClr val="bg1"/>
                </a:solidFill>
              </a:rPr>
              <a:t>C'est-à-dire le mot pour lequel on cherche des synonymes.</a:t>
            </a:r>
          </a:p>
          <a:p>
            <a:pPr lvl="1"/>
            <a:r>
              <a:rPr lang="fr-CA" dirty="0">
                <a:solidFill>
                  <a:schemeClr val="bg1"/>
                </a:solidFill>
              </a:rPr>
              <a:t>On retournait les mots qui lui étaient le plus proche.</a:t>
            </a:r>
          </a:p>
          <a:p>
            <a:pPr lvl="2"/>
            <a:r>
              <a:rPr lang="fr-CA" dirty="0">
                <a:solidFill>
                  <a:schemeClr val="bg1"/>
                </a:solidFill>
              </a:rPr>
              <a:t>Comme dans la phase INIT</a:t>
            </a:r>
          </a:p>
          <a:p>
            <a:pPr lvl="3"/>
            <a:r>
              <a:rPr lang="fr-CA" dirty="0">
                <a:solidFill>
                  <a:schemeClr val="bg1"/>
                </a:solidFill>
              </a:rPr>
              <a:t>Pas d’entrée dans la boucle.</a:t>
            </a:r>
          </a:p>
          <a:p>
            <a:pPr lvl="2"/>
            <a:endParaRPr lang="fr-CA" dirty="0">
              <a:solidFill>
                <a:schemeClr val="bg1"/>
              </a:solidFill>
              <a:cs typeface="Calibri"/>
            </a:endParaRPr>
          </a:p>
          <a:p>
            <a:r>
              <a:rPr lang="fr-CA" dirty="0">
                <a:solidFill>
                  <a:schemeClr val="bg1"/>
                </a:solidFill>
                <a:cs typeface="Calibri"/>
              </a:rPr>
              <a:t>Maintenant, on fournit plusieurs centroïdes.</a:t>
            </a:r>
          </a:p>
          <a:p>
            <a:pPr lvl="1"/>
            <a:r>
              <a:rPr lang="fr-CA" dirty="0">
                <a:solidFill>
                  <a:schemeClr val="bg1"/>
                </a:solidFill>
                <a:cs typeface="Calibri"/>
              </a:rPr>
              <a:t>Et on considère TOUS les mots, donc pas de </a:t>
            </a:r>
            <a:r>
              <a:rPr lang="fr-CA" dirty="0" err="1">
                <a:solidFill>
                  <a:schemeClr val="bg1"/>
                </a:solidFill>
                <a:cs typeface="Calibri"/>
              </a:rPr>
              <a:t>stopliste</a:t>
            </a:r>
            <a:r>
              <a:rPr lang="fr-CA" dirty="0">
                <a:solidFill>
                  <a:schemeClr val="bg1"/>
                </a:solidFill>
                <a:cs typeface="Calibri"/>
              </a:rPr>
              <a:t>.</a:t>
            </a:r>
          </a:p>
          <a:p>
            <a:pPr lvl="1"/>
            <a:endParaRPr lang="fr-CA" dirty="0">
              <a:solidFill>
                <a:schemeClr val="bg1"/>
              </a:solidFill>
              <a:cs typeface="Calibri"/>
            </a:endParaRPr>
          </a:p>
          <a:p>
            <a:pPr lvl="1"/>
            <a:endParaRPr lang="fr-CA" dirty="0">
              <a:solidFill>
                <a:schemeClr val="bg1"/>
              </a:solidFill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17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49680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Clustering: Centroïdes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black"/>
        <p:txBody>
          <a:bodyPr vert="horz" lIns="91440" tIns="45720" rIns="91440" bIns="45720" rtlCol="0" anchor="t">
            <a:normAutofit/>
          </a:bodyPr>
          <a:lstStyle/>
          <a:p>
            <a:r>
              <a:rPr lang="fr-CA" dirty="0">
                <a:solidFill>
                  <a:schemeClr val="bg1"/>
                </a:solidFill>
                <a:cs typeface="Calibri"/>
              </a:rPr>
              <a:t>Il est important de noter que les centroïdes se déplacent, mais les mots (leurs coordonnées) ne se déplacent jamais.</a:t>
            </a:r>
          </a:p>
          <a:p>
            <a:pPr lvl="1"/>
            <a:r>
              <a:rPr lang="fr-CA" dirty="0">
                <a:solidFill>
                  <a:schemeClr val="bg1"/>
                </a:solidFill>
                <a:cs typeface="Calibri"/>
              </a:rPr>
              <a:t>C’est simplement que leur appartenance à un groupe peut changer.</a:t>
            </a:r>
          </a:p>
          <a:p>
            <a:pPr lvl="2"/>
            <a:r>
              <a:rPr lang="fr-CA" dirty="0">
                <a:solidFill>
                  <a:schemeClr val="bg1"/>
                </a:solidFill>
                <a:cs typeface="Calibri"/>
              </a:rPr>
              <a:t>C’est comme une ville conquise lors d’une guerre.</a:t>
            </a:r>
          </a:p>
          <a:p>
            <a:pPr lvl="3"/>
            <a:r>
              <a:rPr lang="fr-CA" dirty="0">
                <a:solidFill>
                  <a:schemeClr val="bg1"/>
                </a:solidFill>
                <a:cs typeface="Calibri"/>
              </a:rPr>
              <a:t>Elle ne se déplace pas, mais elle change d’allégeance nationale.</a:t>
            </a:r>
          </a:p>
          <a:p>
            <a:pPr lvl="1"/>
            <a:endParaRPr lang="fr-CA" dirty="0">
              <a:solidFill>
                <a:schemeClr val="bg1"/>
              </a:solidFill>
              <a:cs typeface="Calibri"/>
            </a:endParaRPr>
          </a:p>
          <a:p>
            <a:pPr lvl="1"/>
            <a:endParaRPr lang="fr-CA" dirty="0">
              <a:solidFill>
                <a:schemeClr val="bg1"/>
              </a:solidFill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18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68512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Clustering: Centroïdes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black">
          <a:xfrm>
            <a:off x="457200" y="1600200"/>
            <a:ext cx="8435280" cy="452596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fr-CA" dirty="0">
                <a:solidFill>
                  <a:schemeClr val="bg1"/>
                </a:solidFill>
                <a:cs typeface="Calibri"/>
              </a:rPr>
              <a:t>Une fois que tous les mots (villes) ont été assignés à un cluster (nation), on peut dire que chaque mot ajoute son poids et ses coordonnées au calcul permettant de déterminer la position du nouveau centroïde (capitale nationale).</a:t>
            </a:r>
          </a:p>
          <a:p>
            <a:pPr lvl="1"/>
            <a:r>
              <a:rPr lang="fr-CA" dirty="0">
                <a:solidFill>
                  <a:schemeClr val="bg1"/>
                </a:solidFill>
                <a:cs typeface="Calibri"/>
              </a:rPr>
              <a:t>Dans cette analogie, la capitale nationale est amovible.</a:t>
            </a:r>
          </a:p>
          <a:p>
            <a:pPr lvl="2"/>
            <a:r>
              <a:rPr lang="fr-CA" dirty="0">
                <a:solidFill>
                  <a:schemeClr val="bg1"/>
                </a:solidFill>
                <a:cs typeface="Calibri"/>
              </a:rPr>
              <a:t>À chaque itération, elle change potentiellement de position.</a:t>
            </a:r>
          </a:p>
          <a:p>
            <a:pPr lvl="1"/>
            <a:endParaRPr lang="fr-CA" dirty="0">
              <a:solidFill>
                <a:schemeClr val="bg1"/>
              </a:solidFill>
              <a:cs typeface="Calibri"/>
            </a:endParaRPr>
          </a:p>
          <a:p>
            <a:pPr lvl="3"/>
            <a:endParaRPr lang="fr-CA" dirty="0">
              <a:solidFill>
                <a:schemeClr val="bg1"/>
              </a:solidFill>
              <a:cs typeface="Calibri"/>
            </a:endParaRPr>
          </a:p>
          <a:p>
            <a:pPr lvl="2"/>
            <a:endParaRPr lang="fr-CA" dirty="0">
              <a:solidFill>
                <a:schemeClr val="bg1"/>
              </a:solidFill>
              <a:cs typeface="Calibri"/>
            </a:endParaRPr>
          </a:p>
          <a:p>
            <a:endParaRPr lang="fr-CA" dirty="0">
              <a:solidFill>
                <a:schemeClr val="bg1"/>
              </a:solidFill>
              <a:cs typeface="Calibri"/>
            </a:endParaRPr>
          </a:p>
          <a:p>
            <a:pPr lvl="1"/>
            <a:endParaRPr lang="fr-CA" dirty="0">
              <a:solidFill>
                <a:schemeClr val="bg1"/>
              </a:solidFill>
              <a:cs typeface="Calibri"/>
            </a:endParaRPr>
          </a:p>
          <a:p>
            <a:pPr lvl="1"/>
            <a:endParaRPr lang="fr-CA" dirty="0">
              <a:solidFill>
                <a:schemeClr val="bg1"/>
              </a:solidFill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19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67539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Clustering: Centroïdes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black"/>
        <p:txBody>
          <a:bodyPr vert="horz" lIns="91440" tIns="45720" rIns="91440" bIns="45720" rtlCol="0" anchor="t">
            <a:normAutofit/>
          </a:bodyPr>
          <a:lstStyle/>
          <a:p>
            <a:r>
              <a:rPr lang="fr-CA" dirty="0">
                <a:solidFill>
                  <a:schemeClr val="bg1"/>
                </a:solidFill>
                <a:cs typeface="Calibri"/>
              </a:rPr>
              <a:t>Le calcul de position d’un centroïde (capitale) se fait en prenant la moyenne des coordonnées des mots (villes) dans son cluster (nation).</a:t>
            </a:r>
            <a:endParaRPr lang="fr-FR" dirty="0">
              <a:solidFill>
                <a:schemeClr val="bg1"/>
              </a:solidFill>
            </a:endParaRPr>
          </a:p>
          <a:p>
            <a:pPr lvl="1"/>
            <a:endParaRPr lang="fr-CA" dirty="0">
              <a:solidFill>
                <a:schemeClr val="bg1"/>
              </a:solidFill>
              <a:cs typeface="Calibri"/>
            </a:endParaRPr>
          </a:p>
          <a:p>
            <a:pPr lvl="1"/>
            <a:r>
              <a:rPr lang="fr-CA" dirty="0">
                <a:solidFill>
                  <a:schemeClr val="bg1"/>
                </a:solidFill>
                <a:cs typeface="Calibri"/>
              </a:rPr>
              <a:t>Lorsque les mots ne changent plus de groupe, la capitale ne se déplace plus et on a terminé.</a:t>
            </a:r>
          </a:p>
          <a:p>
            <a:endParaRPr lang="fr-CA" dirty="0">
              <a:solidFill>
                <a:schemeClr val="bg1"/>
              </a:solidFill>
              <a:cs typeface="Calibri"/>
            </a:endParaRPr>
          </a:p>
          <a:p>
            <a:pPr lvl="1"/>
            <a:endParaRPr lang="fr-CA" dirty="0">
              <a:solidFill>
                <a:schemeClr val="bg1"/>
              </a:solidFill>
              <a:cs typeface="Calibri"/>
            </a:endParaRPr>
          </a:p>
          <a:p>
            <a:pPr lvl="1"/>
            <a:endParaRPr lang="fr-CA" dirty="0">
              <a:solidFill>
                <a:schemeClr val="bg1"/>
              </a:solidFill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20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39523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Clustering: Centroïdes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black"/>
        <p:txBody>
          <a:bodyPr vert="horz" lIns="91440" tIns="45720" rIns="91440" bIns="45720" rtlCol="0" anchor="t">
            <a:normAutofit/>
          </a:bodyPr>
          <a:lstStyle/>
          <a:p>
            <a:r>
              <a:rPr lang="fr-CA" dirty="0">
                <a:solidFill>
                  <a:schemeClr val="bg1"/>
                </a:solidFill>
                <a:cs typeface="Calibri"/>
              </a:rPr>
              <a:t>Comment chaque mot s’ajoute-t-il au calcul?</a:t>
            </a:r>
            <a:endParaRPr lang="fr-FR" dirty="0">
              <a:solidFill>
                <a:schemeClr val="bg1"/>
              </a:solidFill>
              <a:cs typeface="Calibri"/>
            </a:endParaRPr>
          </a:p>
          <a:p>
            <a:pPr lvl="1"/>
            <a:r>
              <a:rPr lang="fr-CA" dirty="0">
                <a:solidFill>
                  <a:schemeClr val="bg1"/>
                </a:solidFill>
                <a:cs typeface="Calibri"/>
              </a:rPr>
              <a:t>Avec son poids et ses coordonnées…</a:t>
            </a:r>
          </a:p>
          <a:p>
            <a:pPr lvl="2"/>
            <a:endParaRPr lang="fr-CA" dirty="0">
              <a:solidFill>
                <a:schemeClr val="bg1"/>
              </a:solidFill>
              <a:cs typeface="Calibri"/>
            </a:endParaRPr>
          </a:p>
          <a:p>
            <a:endParaRPr lang="fr-CA" dirty="0">
              <a:solidFill>
                <a:schemeClr val="bg1"/>
              </a:solidFill>
              <a:cs typeface="Calibri"/>
            </a:endParaRPr>
          </a:p>
          <a:p>
            <a:pPr lvl="1"/>
            <a:endParaRPr lang="fr-CA" dirty="0">
              <a:solidFill>
                <a:schemeClr val="bg1"/>
              </a:solidFill>
              <a:cs typeface="Calibri"/>
            </a:endParaRPr>
          </a:p>
          <a:p>
            <a:pPr lvl="1"/>
            <a:endParaRPr lang="fr-CA" dirty="0">
              <a:solidFill>
                <a:schemeClr val="bg1"/>
              </a:solidFill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21</a:t>
            </a:fld>
            <a:endParaRPr lang="fr-CA"/>
          </a:p>
        </p:txBody>
      </p:sp>
      <p:pic>
        <p:nvPicPr>
          <p:cNvPr id="7" name="Image 7">
            <a:extLst>
              <a:ext uri="{FF2B5EF4-FFF2-40B4-BE49-F238E27FC236}">
                <a16:creationId xmlns:a16="http://schemas.microsoft.com/office/drawing/2014/main" id="{303BC09F-21A8-4239-9E73-095DA8582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715" y="3182452"/>
            <a:ext cx="4444652" cy="3436713"/>
          </a:xfrm>
          <a:prstGeom prst="rect">
            <a:avLst/>
          </a:prstGeom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69E74F66-2572-4B32-8BB4-95F9AD879E6C}"/>
              </a:ext>
            </a:extLst>
          </p:cNvPr>
          <p:cNvCxnSpPr/>
          <p:nvPr/>
        </p:nvCxnSpPr>
        <p:spPr>
          <a:xfrm flipV="1">
            <a:off x="5231704" y="4763022"/>
            <a:ext cx="517742" cy="41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B53D6940-7E61-4582-B9A8-CF01AF1539FA}"/>
              </a:ext>
            </a:extLst>
          </p:cNvPr>
          <p:cNvCxnSpPr>
            <a:cxnSpLocks/>
          </p:cNvCxnSpPr>
          <p:nvPr/>
        </p:nvCxnSpPr>
        <p:spPr>
          <a:xfrm flipH="1">
            <a:off x="2398733" y="5811032"/>
            <a:ext cx="327765" cy="5281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B3E5246A-966A-49DB-9952-4EEF252ECD3C}"/>
              </a:ext>
            </a:extLst>
          </p:cNvPr>
          <p:cNvCxnSpPr>
            <a:cxnSpLocks/>
          </p:cNvCxnSpPr>
          <p:nvPr/>
        </p:nvCxnSpPr>
        <p:spPr>
          <a:xfrm flipH="1" flipV="1">
            <a:off x="1897690" y="3353845"/>
            <a:ext cx="400835" cy="3382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7291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Clustering: Centroïdes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black"/>
        <p:txBody>
          <a:bodyPr vert="horz" lIns="91440" tIns="45720" rIns="91440" bIns="45720" rtlCol="0" anchor="t">
            <a:normAutofit/>
          </a:bodyPr>
          <a:lstStyle/>
          <a:p>
            <a:r>
              <a:rPr lang="fr-CA" dirty="0">
                <a:solidFill>
                  <a:schemeClr val="bg1"/>
                </a:solidFill>
              </a:rPr>
              <a:t>La partie la plus délicate est la suivante:</a:t>
            </a:r>
          </a:p>
          <a:p>
            <a:pPr lvl="1"/>
            <a:r>
              <a:rPr lang="fr-CA" dirty="0">
                <a:solidFill>
                  <a:schemeClr val="bg1"/>
                </a:solidFill>
              </a:rPr>
              <a:t>Comment initialiser ces centroïdes?</a:t>
            </a:r>
            <a:endParaRPr lang="fr-CA" dirty="0">
              <a:solidFill>
                <a:schemeClr val="bg1"/>
              </a:solidFill>
              <a:cs typeface="Calibri"/>
            </a:endParaRPr>
          </a:p>
          <a:p>
            <a:pPr lvl="2"/>
            <a:r>
              <a:rPr lang="fr-CA" dirty="0">
                <a:solidFill>
                  <a:schemeClr val="bg1"/>
                </a:solidFill>
                <a:cs typeface="Calibri"/>
              </a:rPr>
              <a:t>Mots?</a:t>
            </a:r>
            <a:endParaRPr lang="fr-CA"/>
          </a:p>
          <a:p>
            <a:pPr lvl="2"/>
            <a:r>
              <a:rPr lang="fr-CA" dirty="0">
                <a:solidFill>
                  <a:schemeClr val="bg1"/>
                </a:solidFill>
              </a:rPr>
              <a:t>Méthode aléatoire?</a:t>
            </a:r>
          </a:p>
          <a:p>
            <a:pPr lvl="3"/>
            <a:r>
              <a:rPr lang="fr-CA" dirty="0">
                <a:solidFill>
                  <a:schemeClr val="bg1"/>
                </a:solidFill>
                <a:cs typeface="Calibri"/>
              </a:rPr>
              <a:t>Mots aléatoires...</a:t>
            </a:r>
          </a:p>
          <a:p>
            <a:pPr lvl="3"/>
            <a:r>
              <a:rPr lang="fr-CA" dirty="0">
                <a:solidFill>
                  <a:schemeClr val="bg1"/>
                </a:solidFill>
                <a:cs typeface="Calibri"/>
              </a:rPr>
              <a:t>Points dans l'espace qui ne sont pas des mots...</a:t>
            </a:r>
          </a:p>
          <a:p>
            <a:pPr lvl="1"/>
            <a:endParaRPr lang="fr-CA" dirty="0">
              <a:solidFill>
                <a:schemeClr val="bg1"/>
              </a:solidFill>
            </a:endParaRPr>
          </a:p>
          <a:p>
            <a:pPr lvl="1"/>
            <a:endParaRPr lang="fr-CA" dirty="0">
              <a:solidFill>
                <a:schemeClr val="bg1"/>
              </a:solidFill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22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472332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Clustering: Centroïdes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black"/>
        <p:txBody>
          <a:bodyPr vert="horz" lIns="91440" tIns="45720" rIns="91440" bIns="45720" rtlCol="0" anchor="t">
            <a:normAutofit/>
          </a:bodyPr>
          <a:lstStyle/>
          <a:p>
            <a:r>
              <a:rPr lang="fr-CA" dirty="0">
                <a:solidFill>
                  <a:schemeClr val="bg1"/>
                </a:solidFill>
              </a:rPr>
              <a:t>Quelle que soit votre méthode initiale pour choisir les centroïdes, une fois les points regroupés en clusters stables, l'algorithme a terminé son exécution.</a:t>
            </a:r>
          </a:p>
          <a:p>
            <a:pPr lvl="1"/>
            <a:r>
              <a:rPr lang="fr-CA" dirty="0">
                <a:solidFill>
                  <a:schemeClr val="bg1"/>
                </a:solidFill>
              </a:rPr>
              <a:t>On dit que l'algorithme a convergé.</a:t>
            </a:r>
          </a:p>
          <a:p>
            <a:pPr lvl="2"/>
            <a:r>
              <a:rPr lang="fr-CA" dirty="0">
                <a:solidFill>
                  <a:schemeClr val="bg1"/>
                </a:solidFill>
              </a:rPr>
              <a:t>En théorie, les points regroupés partagent des propriétés.</a:t>
            </a:r>
          </a:p>
          <a:p>
            <a:pPr lvl="3"/>
            <a:r>
              <a:rPr lang="fr-CA" dirty="0">
                <a:solidFill>
                  <a:schemeClr val="bg1"/>
                </a:solidFill>
              </a:rPr>
              <a:t>On peut dégager (ou non) certaines conclusions à propos de ces propriétés.</a:t>
            </a:r>
          </a:p>
          <a:p>
            <a:pPr lvl="4"/>
            <a:r>
              <a:rPr lang="fr-CA" dirty="0">
                <a:solidFill>
                  <a:schemeClr val="bg1"/>
                </a:solidFill>
              </a:rPr>
              <a:t>À vous de jouer.</a:t>
            </a:r>
          </a:p>
          <a:p>
            <a:pPr lvl="2"/>
            <a:endParaRPr lang="fr-CA" dirty="0">
              <a:solidFill>
                <a:schemeClr val="bg1"/>
              </a:solidFill>
            </a:endParaRPr>
          </a:p>
          <a:p>
            <a:pPr lvl="1"/>
            <a:endParaRPr lang="fr-CA" dirty="0">
              <a:solidFill>
                <a:schemeClr val="bg1"/>
              </a:solidFill>
            </a:endParaRPr>
          </a:p>
          <a:p>
            <a:pPr lvl="1"/>
            <a:endParaRPr lang="fr-CA" dirty="0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23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804878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Clustering: remarque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black"/>
        <p:txBody>
          <a:bodyPr vert="horz" lIns="91440" tIns="45720" rIns="91440" bIns="45720" rtlCol="0" anchor="t">
            <a:normAutofit/>
          </a:bodyPr>
          <a:lstStyle/>
          <a:p>
            <a:r>
              <a:rPr lang="fr-CA" dirty="0">
                <a:solidFill>
                  <a:schemeClr val="bg1"/>
                </a:solidFill>
                <a:cs typeface="Calibri"/>
              </a:rPr>
              <a:t>Le centroïde du cluster contenant uniquement le Soleil et Alpha </a:t>
            </a:r>
            <a:r>
              <a:rPr lang="fr-CA" dirty="0" err="1">
                <a:solidFill>
                  <a:schemeClr val="bg1"/>
                </a:solidFill>
                <a:cs typeface="Calibri"/>
              </a:rPr>
              <a:t>Centauri</a:t>
            </a:r>
            <a:r>
              <a:rPr lang="fr-CA" dirty="0">
                <a:solidFill>
                  <a:schemeClr val="bg1"/>
                </a:solidFill>
                <a:cs typeface="Calibri"/>
              </a:rPr>
              <a:t> est un point dans l'espace où ne se trouve pas une autre étoile...</a:t>
            </a:r>
          </a:p>
          <a:p>
            <a:pPr lvl="1"/>
            <a:r>
              <a:rPr lang="fr-CA" dirty="0">
                <a:solidFill>
                  <a:schemeClr val="bg1"/>
                </a:solidFill>
                <a:cs typeface="Calibri"/>
              </a:rPr>
              <a:t>Les coordonnées des centroïdes peuvent et vont tomber « entre » les mots.</a:t>
            </a:r>
          </a:p>
          <a:p>
            <a:pPr lvl="2"/>
            <a:r>
              <a:rPr lang="fr-CA" dirty="0">
                <a:solidFill>
                  <a:schemeClr val="bg1"/>
                </a:solidFill>
                <a:cs typeface="Calibri"/>
              </a:rPr>
              <a:t>C’est une quasi-certitude.</a:t>
            </a:r>
          </a:p>
          <a:p>
            <a:pPr lvl="3"/>
            <a:r>
              <a:rPr lang="fr-CA" dirty="0">
                <a:solidFill>
                  <a:schemeClr val="bg1"/>
                </a:solidFill>
                <a:cs typeface="Calibri"/>
              </a:rPr>
              <a:t>Utilisez donc des </a:t>
            </a:r>
            <a:r>
              <a:rPr lang="fr-CA" dirty="0" err="1">
                <a:solidFill>
                  <a:schemeClr val="bg1"/>
                </a:solidFill>
                <a:cs typeface="Calibri"/>
              </a:rPr>
              <a:t>floats</a:t>
            </a:r>
            <a:r>
              <a:rPr lang="fr-CA" dirty="0">
                <a:solidFill>
                  <a:schemeClr val="bg1"/>
                </a:solidFill>
                <a:cs typeface="Calibri"/>
              </a:rPr>
              <a:t>!</a:t>
            </a:r>
          </a:p>
          <a:p>
            <a:pPr lvl="1"/>
            <a:endParaRPr lang="fr-CA" dirty="0">
              <a:solidFill>
                <a:schemeClr val="bg1"/>
              </a:solidFill>
            </a:endParaRPr>
          </a:p>
          <a:p>
            <a:pPr lvl="1"/>
            <a:endParaRPr lang="fr-CA" dirty="0">
              <a:solidFill>
                <a:schemeClr val="bg1"/>
              </a:solidFill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24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656525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Clustering: Centroïdes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black"/>
        <p:txBody>
          <a:bodyPr>
            <a:normAutofit/>
          </a:bodyPr>
          <a:lstStyle/>
          <a:p>
            <a:r>
              <a:rPr lang="fr-CA" dirty="0">
                <a:solidFill>
                  <a:schemeClr val="bg1"/>
                </a:solidFill>
              </a:rPr>
              <a:t>Voici une démo impressionnante de l’algorithme:</a:t>
            </a:r>
          </a:p>
          <a:p>
            <a:pPr lvl="1"/>
            <a:r>
              <a:rPr lang="fr-CA" dirty="0">
                <a:hlinkClick r:id="rId3"/>
              </a:rPr>
              <a:t>http://www.naftaliharris.com/blog/visualizing-k-means-clustering/</a:t>
            </a:r>
            <a:endParaRPr lang="fr-CA" dirty="0">
              <a:solidFill>
                <a:schemeClr val="bg1"/>
              </a:solidFill>
            </a:endParaRPr>
          </a:p>
          <a:p>
            <a:pPr lvl="2"/>
            <a:endParaRPr lang="fr-CA" dirty="0">
              <a:solidFill>
                <a:schemeClr val="bg1"/>
              </a:solidFill>
            </a:endParaRPr>
          </a:p>
          <a:p>
            <a:pPr lvl="1"/>
            <a:endParaRPr lang="fr-CA" dirty="0">
              <a:solidFill>
                <a:schemeClr val="bg1"/>
              </a:solidFill>
            </a:endParaRPr>
          </a:p>
          <a:p>
            <a:pPr lvl="1"/>
            <a:endParaRPr lang="fr-CA" dirty="0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25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007787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Bibliographie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black"/>
        <p:txBody>
          <a:bodyPr>
            <a:normAutofit fontScale="92500" lnSpcReduction="20000"/>
          </a:bodyPr>
          <a:lstStyle/>
          <a:p>
            <a:r>
              <a:rPr lang="fr-CA" dirty="0">
                <a:solidFill>
                  <a:schemeClr val="bg1"/>
                </a:solidFill>
                <a:hlinkClick r:id="rId3"/>
              </a:rPr>
              <a:t>https://en.wikipedia.org/wiki/Cluster_analysis#Applications</a:t>
            </a:r>
            <a:endParaRPr lang="fr-CA" dirty="0">
              <a:solidFill>
                <a:schemeClr val="bg1"/>
              </a:solidFill>
            </a:endParaRPr>
          </a:p>
          <a:p>
            <a:r>
              <a:rPr lang="fr-CA" dirty="0">
                <a:solidFill>
                  <a:schemeClr val="bg1"/>
                </a:solidFill>
                <a:hlinkClick r:id="rId4"/>
              </a:rPr>
              <a:t>https://sites.google.com/site/dataclusteringalgorithms/clustering-algorithm-applications</a:t>
            </a:r>
            <a:endParaRPr lang="fr-CA" dirty="0">
              <a:solidFill>
                <a:schemeClr val="bg1"/>
              </a:solidFill>
            </a:endParaRPr>
          </a:p>
          <a:p>
            <a:r>
              <a:rPr lang="fr-CA" dirty="0">
                <a:solidFill>
                  <a:schemeClr val="bg1"/>
                </a:solidFill>
                <a:hlinkClick r:id="rId5"/>
              </a:rPr>
              <a:t>https://fr.wikipedia.org/wiki/Partitionnement_de_donn%C3%A9es</a:t>
            </a:r>
            <a:endParaRPr lang="fr-CA" dirty="0">
              <a:solidFill>
                <a:schemeClr val="bg1"/>
              </a:solidFill>
            </a:endParaRPr>
          </a:p>
          <a:p>
            <a:r>
              <a:rPr lang="fr-CA" dirty="0">
                <a:solidFill>
                  <a:schemeClr val="bg1"/>
                </a:solidFill>
                <a:hlinkClick r:id="rId6"/>
              </a:rPr>
              <a:t>https://fr.wikipedia.org/wiki/Barycentre</a:t>
            </a:r>
            <a:endParaRPr lang="fr-CA" dirty="0">
              <a:solidFill>
                <a:schemeClr val="bg1"/>
              </a:solidFill>
            </a:endParaRPr>
          </a:p>
          <a:p>
            <a:r>
              <a:rPr lang="fr-CA" dirty="0">
                <a:solidFill>
                  <a:schemeClr val="bg1"/>
                </a:solidFill>
                <a:hlinkClick r:id="rId7"/>
              </a:rPr>
              <a:t>https://fr.wikipedia.org/wiki/Barycentre_(g%C3%A9om%C3%A9trie_%C3%A9l%C3%A9mentaire)</a:t>
            </a:r>
            <a:endParaRPr lang="fr-CA" dirty="0">
              <a:solidFill>
                <a:schemeClr val="bg1"/>
              </a:solidFill>
            </a:endParaRPr>
          </a:p>
          <a:p>
            <a:r>
              <a:rPr lang="fr-CA" dirty="0">
                <a:solidFill>
                  <a:schemeClr val="bg1"/>
                </a:solidFill>
                <a:hlinkClick r:id="rId8"/>
              </a:rPr>
              <a:t>https://en.wikipedia.org/wiki/Centroid</a:t>
            </a:r>
            <a:endParaRPr lang="fr-CA" dirty="0">
              <a:solidFill>
                <a:schemeClr val="bg1"/>
              </a:solidFill>
            </a:endParaRPr>
          </a:p>
          <a:p>
            <a:endParaRPr lang="fr-CA" dirty="0">
              <a:solidFill>
                <a:schemeClr val="bg1"/>
              </a:solidFill>
            </a:endParaRPr>
          </a:p>
          <a:p>
            <a:endParaRPr lang="fr-CA" dirty="0">
              <a:solidFill>
                <a:schemeClr val="bg1"/>
              </a:solidFill>
            </a:endParaRPr>
          </a:p>
          <a:p>
            <a:endParaRPr lang="fr-CA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CA" dirty="0">
              <a:solidFill>
                <a:schemeClr val="bg1"/>
              </a:solidFill>
            </a:endParaRPr>
          </a:p>
          <a:p>
            <a:endParaRPr lang="fr-CA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CA" dirty="0">
              <a:solidFill>
                <a:schemeClr val="bg1"/>
              </a:solidFill>
            </a:endParaRPr>
          </a:p>
          <a:p>
            <a:endParaRPr lang="fr-CA" dirty="0">
              <a:solidFill>
                <a:schemeClr val="bg1"/>
              </a:solidFill>
            </a:endParaRPr>
          </a:p>
          <a:p>
            <a:endParaRPr lang="fr-CA" dirty="0">
              <a:solidFill>
                <a:schemeClr val="bg1"/>
              </a:solidFill>
            </a:endParaRPr>
          </a:p>
          <a:p>
            <a:endParaRPr lang="fr-CA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fr-CA" dirty="0">
              <a:solidFill>
                <a:schemeClr val="bg1"/>
              </a:solidFill>
            </a:endParaRPr>
          </a:p>
          <a:p>
            <a:pPr lvl="1"/>
            <a:endParaRPr lang="fr-CA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fr-CA" dirty="0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57C70-95D0-4507-B785-C852A1CEF3D3}" type="slidenum">
              <a:rPr lang="fr-CA" smtClean="0"/>
              <a:t>26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501122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3014</TotalTime>
  <Words>1375</Words>
  <Application>Microsoft Office PowerPoint</Application>
  <PresentationFormat>Affichage à l'écran (4:3)</PresentationFormat>
  <Paragraphs>217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Cambria Math</vt:lpstr>
      <vt:lpstr>Thème Office</vt:lpstr>
      <vt:lpstr>Clustering</vt:lpstr>
      <vt:lpstr>Beaucoup de données, peu de sens</vt:lpstr>
      <vt:lpstr>Partitionnement</vt:lpstr>
      <vt:lpstr>Partitionnement/Clustering</vt:lpstr>
      <vt:lpstr>Clustering</vt:lpstr>
      <vt:lpstr>Clustering</vt:lpstr>
      <vt:lpstr>Clustering: approches</vt:lpstr>
      <vt:lpstr>Clustering: Centroïdes</vt:lpstr>
      <vt:lpstr>Clustering: Centroïdes</vt:lpstr>
      <vt:lpstr>Clustering: Centroïdes</vt:lpstr>
      <vt:lpstr>Clustering: Centroïdes</vt:lpstr>
      <vt:lpstr>Clustering: Centroïdes</vt:lpstr>
      <vt:lpstr>Clustering: Centroïdes</vt:lpstr>
      <vt:lpstr>Clustering: Centroïdes</vt:lpstr>
      <vt:lpstr>Clustering: Centroïdes</vt:lpstr>
      <vt:lpstr>Clustering: Centroïdes</vt:lpstr>
      <vt:lpstr>Clustering: Centroïdes</vt:lpstr>
      <vt:lpstr>Clustering: Centroïdes</vt:lpstr>
      <vt:lpstr>Clustering: Centroïdes</vt:lpstr>
      <vt:lpstr>Clustering: Centroïdes</vt:lpstr>
      <vt:lpstr>Clustering: Centroïdes</vt:lpstr>
      <vt:lpstr>Clustering: Centroïdes</vt:lpstr>
      <vt:lpstr>Clustering: Centroïdes</vt:lpstr>
      <vt:lpstr>Clustering: remarque</vt:lpstr>
      <vt:lpstr>Clustering: Centroïdes</vt:lpstr>
      <vt:lpstr>Bibliographie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dans Eclipse</dc:title>
  <dc:creator>cvm</dc:creator>
  <cp:lastModifiedBy>Pierre-Paul Monty</cp:lastModifiedBy>
  <cp:revision>502</cp:revision>
  <dcterms:created xsi:type="dcterms:W3CDTF">2013-02-05T18:39:38Z</dcterms:created>
  <dcterms:modified xsi:type="dcterms:W3CDTF">2026-04-16T00:12:20Z</dcterms:modified>
</cp:coreProperties>
</file>